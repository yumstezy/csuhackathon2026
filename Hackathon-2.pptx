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Helvetica Neue"/>
      <p:regular r:id="rId24"/>
      <p:bold r:id="rId25"/>
      <p:italic r:id="rId26"/>
      <p:boldItalic r:id="rId27"/>
    </p:embeddedFont>
    <p:embeddedFont>
      <p:font typeface="Oswald"/>
      <p:regular r:id="rId28"/>
      <p:bold r:id="rId29"/>
    </p:embeddedFont>
    <p:embeddedFont>
      <p:font typeface="Helvetica Neue Ligh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HelveticaNeue-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italic.fntdata"/><Relationship Id="rId25" Type="http://schemas.openxmlformats.org/officeDocument/2006/relationships/font" Target="fonts/HelveticaNeue-bold.fntdata"/><Relationship Id="rId28" Type="http://schemas.openxmlformats.org/officeDocument/2006/relationships/font" Target="fonts/Oswald-regular.fntdata"/><Relationship Id="rId27" Type="http://schemas.openxmlformats.org/officeDocument/2006/relationships/font" Target="fonts/HelveticaNeue-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Light-bold.fntdata"/><Relationship Id="rId30" Type="http://schemas.openxmlformats.org/officeDocument/2006/relationships/font" Target="fonts/HelveticaNeueLight-regular.fntdata"/><Relationship Id="rId11" Type="http://schemas.openxmlformats.org/officeDocument/2006/relationships/slide" Target="slides/slide6.xml"/><Relationship Id="rId33" Type="http://schemas.openxmlformats.org/officeDocument/2006/relationships/font" Target="fonts/HelveticaNeueLight-boldItalic.fntdata"/><Relationship Id="rId10" Type="http://schemas.openxmlformats.org/officeDocument/2006/relationships/slide" Target="slides/slide5.xml"/><Relationship Id="rId32" Type="http://schemas.openxmlformats.org/officeDocument/2006/relationships/font" Target="fonts/HelveticaNeueLight-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e4df0aacf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e4df0aacf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Liam: Welcome to our Time Use </a:t>
            </a:r>
            <a:r>
              <a:rPr lang="en"/>
              <a:t>Gender</a:t>
            </a:r>
            <a:r>
              <a:rPr lang="en"/>
              <a:t> and Time Poverty presentation for Econ 211. My name is Liam and I will present alongside Alex, Diego, Sasha, and Westen.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e4df0aacf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e4df0aacf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LIAM: Our project examines how people spend their time and whether time use differs by gender. We also look at how our sample compares to national U.S. averages and whether any of our participants experience time poverty. Time poverty refers to having too little discretionary time after necessary and committed activities. Understanding time use is important because it impacts stress levels, health, education, disparities, and overall well-being.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8e0c16037ab054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8e0c16037ab054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e4df0aacf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e4df0aacf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Alex (Methodology):</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“Our sample was made up of students who completed 24-hour time diaries. Each participant recorded how many minutes they spent sleeping, studying, working, doing personal care, and having free time. We then converted those minutes into hours and percentages so we could compare time use across categories and by gender. We also grouped activities into necessary, committed, and discretionary time so we could evaluate time poverty using Kalenkoski’s definition.”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e4df0aacf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e4df0aacf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e4df0aacf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e4df0aacf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(Graph Results):</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This graph shows that men spent about 34.95% of their day in free time, compared to 27.43% for women, showing a noticeable gap in leisure. In contrast, women devoted a larger share of their day to both studying and paid work, with 21.18% of their time spent studying and 5.90% in paid work, compared to 18.40% and 3.47% for men. Women also spent a slightly higher percentage of their day sleeping. Together, these patterns highlight that while both groups balance similar activities, the way their time is allocated across the day is different.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95f40e5d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95f40e5d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(Graph Results):</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This graph shows that men spent about 34.95% of their day in free time, compared to 27.43% for women, showing a noticeable gap in leisure. In contrast, women devoted a larger share of their day to both studying and paid work, with 21.18% of their time spent studying and 5.90% in paid work, compared to 18.40% and 3.47% for men. Women also spent a slightly higher percentage of their day sleeping. Together, these patterns highlight that while both groups balance similar activities, the way their time is allocated across the day is different.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a39a26265ee04a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a39a26265ee04a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(Time Poverty Results):</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“Using the Kalenkoski definition of time poverty, we classified discretionary time as anything left after necessary and committed activities. In our sample, most participants had 9-15 hours of discretionary time per day. However, two of our participants fell below the time poverty threshold of 8.9 hours of discretionary time for 2 adults with no children, which aligns with the average number of adults and children in each household. The two participants are male and female, and spent below the average amount of time on free time and study, while spending a significant amount of time on sleep and personal care.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a39a26265ee04a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a39a26265ee04a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(Table Results):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table shows our average time use in hours per day. On average, participants spent about 9.45 hours sleeping, 0.95 hours on personal care, 0.27 hours on domestic work, 0.85 hours on paid work, 7.79 hours in free time, and 4.59 hours studying. When looking at gender differences, women in our sample spent slightly more time sleeping, studying, and in paid work compared to men, while men spent more time in domestic work and free time.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We also observe a noticeable difference in free time, with men having nearly two more hours of free time per day than women. This difference may be related to the fact that, on average, women spent more time engaged in studying, paid work, and sleep. The graph further highlights that men dedicated more time to domestic work in this sample.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a39a26265ee04a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a39a26265ee04a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(Time Poverty Results):</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“Using the Kalenkoski definition of time poverty, we classified discretionary time as anything left after necessary and committed activities. In our sample, most participants had 9-15 hours of discretionary time per day. However, two of our participants fell below the time poverty threshold of 8.9 hours of discretionary time for 2 adults with no children, which aligns with the average number of adults and children in each household. The two participants are male and female, and spent below the average amount of time on free time and study, while spending a significant amount of time on sleep and personal care.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e4df0aacf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e4df0aacf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(Table Results):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table shows our average time use in hours per day. On average, participants spent about 9.45 hours sleeping, 0.95 hours on personal care, 0.27 hours on domestic work, 0.85 hours on paid work, 7.79 hours in free time, and 4.59 hours studying. When looking at gender differences, women in our sample spent slightly more time sleeping, studying, and in paid work compared to men, while men spent more time in domestic work and free time.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We also observe a noticeable difference in free time, with men having nearly two more hours of free time per day than women. This difference may be related to the fact that, on average, women spent more time engaged in studying, paid work, and sleep. The graph further highlights that men dedicated more time to domestic work in this sample.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a39a26265ee04a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a39a26265ee04a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(Table Results):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table shows our average time use in hours per day. On average, participants spent about 9.45 hours sleeping, 0.95 hours on personal care, 0.27 hours on domestic work, 0.85 hours on paid work, 7.79 hours in free time, and 4.59 hours studying. When looking at gender differences, women in our sample spent slightly more time sleeping, studying, and in paid work compared to men, while men spent more time in domestic work and free time.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We also observe a noticeable difference in free time, with men having nearly two more hours of free time per day than women. This difference may be related to the fact that, on average, women spent more time engaged in studying, paid work, and sleep. The graph further highlights that men dedicated more time to domestic work in this sample.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e4df0aac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e4df0aac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(Time Poverty Results):</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“Using the Kalenkoski definition of time poverty, we classified discretionary time as anything left after necessary and committed activities. In our sample, most participants had 9-15 hours of discretionary time per day. However, two of our participants fell below the time poverty threshold of 8.9 hours of discretionary time for 2 adults with no children, which aligns with the average number of adults and children in each household. The two participants are male and female, and spent below the average amount of time on free time and study, while spending a significant amount of time on sleep and personal care.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e4df0aacf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e4df0aacf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e4df0aacf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e4df0aacf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Westen (Gender Differences):</a:t>
            </a:r>
            <a:endParaRPr b="1">
              <a:solidFill>
                <a:schemeClr val="dk1"/>
              </a:solidFill>
            </a:endParaRPr>
          </a:p>
          <a:p>
            <a:pPr indent="0" lvl="0" marL="0" marR="381000" rtl="0" algn="l">
              <a:lnSpc>
                <a:spcPct val="115000"/>
              </a:lnSpc>
              <a:spcBef>
                <a:spcPts val="1200"/>
              </a:spcBef>
              <a:spcAft>
                <a:spcPts val="1200"/>
              </a:spcAft>
              <a:buClr>
                <a:schemeClr val="dk1"/>
              </a:buClr>
              <a:buSzPts val="1100"/>
              <a:buFont typeface="Arial"/>
              <a:buNone/>
            </a:pPr>
            <a:r>
              <a:rPr lang="en">
                <a:solidFill>
                  <a:schemeClr val="dk1"/>
                </a:solidFill>
              </a:rPr>
              <a:t>The main gender differences in our time analysis show that women in our sample spent more time sleeping, studying, and in paid work, while men spent more time in free time and domestic work. The most noticeable difference was in free time, where men had nearly two more hours per day than women. Women also spent on average about 40 more minutes per day studying than men, showing a stronger emphasis on academic work. Paid work was slightly higher for women as well, while men spent a bit more time on domestic tasks. But cannot conclude accurately without more data.</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95f40e5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d95f40e5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Script – Sasha (Time Poverty Results):</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“Using the Kalenkoski definition of time poverty, we classified discretionary time as anything left after necessary and committed activities. In our sample, most participants had 9-15 hours of discretionary time per day. However, two of our participants fell below the time poverty threshold of 8.9 hours of discretionary time for 2 adults with no children, which aligns with the average number of adults and children in each household. The two participants are male and female, and spent below the average amount of time on free time and study, while spending a significant amount of time on sleep and personal care.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95f40e5d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d95f40e5d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 name="Shape 53"/>
        <p:cNvGrpSpPr/>
        <p:nvPr/>
      </p:nvGrpSpPr>
      <p:grpSpPr>
        <a:xfrm>
          <a:off x="0" y="0"/>
          <a:ext cx="0" cy="0"/>
          <a:chOff x="0" y="0"/>
          <a:chExt cx="0" cy="0"/>
        </a:xfrm>
      </p:grpSpPr>
      <p:sp>
        <p:nvSpPr>
          <p:cNvPr id="54" name="Google Shape;54;p13"/>
          <p:cNvSpPr txBox="1"/>
          <p:nvPr/>
        </p:nvSpPr>
        <p:spPr>
          <a:xfrm>
            <a:off x="440725" y="938275"/>
            <a:ext cx="7762200" cy="28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2"/>
                </a:solidFill>
              </a:rPr>
              <a:t>Important notes </a:t>
            </a:r>
            <a:r>
              <a:rPr lang="en" sz="2400">
                <a:solidFill>
                  <a:schemeClr val="dk2"/>
                </a:solidFill>
              </a:rPr>
              <a:t>about</a:t>
            </a:r>
            <a:r>
              <a:rPr lang="en" sz="2400">
                <a:solidFill>
                  <a:schemeClr val="dk2"/>
                </a:solidFill>
              </a:rPr>
              <a:t> the slideshow:</a:t>
            </a:r>
            <a:endParaRPr sz="2400">
              <a:solidFill>
                <a:schemeClr val="dk2"/>
              </a:solidFill>
            </a:endParaRPr>
          </a:p>
          <a:p>
            <a:pPr indent="0" lvl="0" marL="0" rtl="0" algn="l">
              <a:spcBef>
                <a:spcPts val="0"/>
              </a:spcBef>
              <a:spcAft>
                <a:spcPts val="0"/>
              </a:spcAft>
              <a:buNone/>
            </a:pPr>
            <a:r>
              <a:t/>
            </a:r>
            <a:endParaRPr sz="2400">
              <a:solidFill>
                <a:schemeClr val="dk2"/>
              </a:solidFill>
            </a:endParaRPr>
          </a:p>
          <a:p>
            <a:pPr indent="0" lvl="0" marL="0" rtl="0" algn="l">
              <a:spcBef>
                <a:spcPts val="0"/>
              </a:spcBef>
              <a:spcAft>
                <a:spcPts val="0"/>
              </a:spcAft>
              <a:buNone/>
            </a:pPr>
            <a:r>
              <a:rPr lang="en" sz="2400">
                <a:solidFill>
                  <a:schemeClr val="dk2"/>
                </a:solidFill>
              </a:rPr>
              <a:t>While presenting, don’t read from the slide, each script is in the speaker notes below ↓ for each person’s </a:t>
            </a:r>
            <a:r>
              <a:rPr lang="en" sz="2400">
                <a:solidFill>
                  <a:schemeClr val="dk2"/>
                </a:solidFill>
              </a:rPr>
              <a:t>designated</a:t>
            </a:r>
            <a:r>
              <a:rPr lang="en" sz="2400">
                <a:solidFill>
                  <a:schemeClr val="dk2"/>
                </a:solidFill>
              </a:rPr>
              <a:t> slide.</a:t>
            </a:r>
            <a:endParaRPr sz="2400">
              <a:solidFill>
                <a:schemeClr val="dk2"/>
              </a:solidFill>
            </a:endParaRPr>
          </a:p>
          <a:p>
            <a:pPr indent="0" lvl="0" marL="0" rtl="0" algn="l">
              <a:spcBef>
                <a:spcPts val="0"/>
              </a:spcBef>
              <a:spcAft>
                <a:spcPts val="0"/>
              </a:spcAft>
              <a:buNone/>
            </a:pPr>
            <a:r>
              <a:t/>
            </a:r>
            <a:endParaRPr sz="2400">
              <a:solidFill>
                <a:schemeClr val="dk2"/>
              </a:solidFill>
            </a:endParaRPr>
          </a:p>
          <a:p>
            <a:pPr indent="0" lvl="0" marL="0" rtl="0" algn="l">
              <a:spcBef>
                <a:spcPts val="0"/>
              </a:spcBef>
              <a:spcAft>
                <a:spcPts val="0"/>
              </a:spcAft>
              <a:buNone/>
            </a:pPr>
            <a:r>
              <a:rPr lang="en" sz="2400">
                <a:solidFill>
                  <a:schemeClr val="dk2"/>
                </a:solidFill>
              </a:rPr>
              <a:t>Every text on each slide is </a:t>
            </a:r>
            <a:r>
              <a:rPr lang="en" sz="2400">
                <a:solidFill>
                  <a:schemeClr val="dk2"/>
                </a:solidFill>
              </a:rPr>
              <a:t>only</a:t>
            </a:r>
            <a:r>
              <a:rPr lang="en" sz="2400">
                <a:solidFill>
                  <a:schemeClr val="dk2"/>
                </a:solidFill>
              </a:rPr>
              <a:t> used as a visual, not a </a:t>
            </a:r>
            <a:r>
              <a:rPr lang="en" sz="2400">
                <a:solidFill>
                  <a:schemeClr val="dk2"/>
                </a:solidFill>
              </a:rPr>
              <a:t>reference for reading, only read from the script in the speaker notes when we present</a:t>
            </a:r>
            <a:endParaRPr sz="24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0" name="Google Shape;60;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61" name="Google Shape;61;p14"/>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62" name="Google Shape;62;p14"/>
          <p:cNvSpPr txBox="1"/>
          <p:nvPr/>
        </p:nvSpPr>
        <p:spPr>
          <a:xfrm>
            <a:off x="311700" y="486292"/>
            <a:ext cx="8395500" cy="337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0">
                <a:solidFill>
                  <a:srgbClr val="CC4125"/>
                </a:solidFill>
              </a:rPr>
              <a:t>AURUM</a:t>
            </a:r>
            <a:endParaRPr b="1" sz="15000">
              <a:solidFill>
                <a:srgbClr val="CC4125"/>
              </a:solidFill>
            </a:endParaRPr>
          </a:p>
        </p:txBody>
      </p:sp>
      <p:sp>
        <p:nvSpPr>
          <p:cNvPr id="63" name="Google Shape;63;p14"/>
          <p:cNvSpPr txBox="1"/>
          <p:nvPr/>
        </p:nvSpPr>
        <p:spPr>
          <a:xfrm>
            <a:off x="1092150" y="2448387"/>
            <a:ext cx="68346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rgbClr val="FFFFFF"/>
                </a:solidFill>
                <a:latin typeface="Oswald"/>
                <a:ea typeface="Oswald"/>
                <a:cs typeface="Oswald"/>
                <a:sym typeface="Oswald"/>
              </a:rPr>
              <a:t>CORN YIELD ML PREDICTION MODEL</a:t>
            </a:r>
            <a:endParaRPr sz="3600">
              <a:solidFill>
                <a:srgbClr val="FFFFFF"/>
              </a:solidFill>
              <a:latin typeface="Oswald"/>
              <a:ea typeface="Oswald"/>
              <a:cs typeface="Oswald"/>
              <a:sym typeface="Oswald"/>
            </a:endParaRPr>
          </a:p>
        </p:txBody>
      </p:sp>
      <p:cxnSp>
        <p:nvCxnSpPr>
          <p:cNvPr id="64" name="Google Shape;64;p14"/>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65" name="Google Shape;65;p14"/>
          <p:cNvSpPr txBox="1"/>
          <p:nvPr/>
        </p:nvSpPr>
        <p:spPr>
          <a:xfrm>
            <a:off x="234875" y="3638775"/>
            <a:ext cx="32412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USDA HACKATHON 2026</a:t>
            </a:r>
            <a:endParaRPr b="1" sz="1800">
              <a:solidFill>
                <a:srgbClr val="CC4125"/>
              </a:solidFill>
              <a:latin typeface="Helvetica Neue"/>
              <a:ea typeface="Helvetica Neue"/>
              <a:cs typeface="Helvetica Neue"/>
              <a:sym typeface="Helvetica Neue"/>
            </a:endParaRPr>
          </a:p>
        </p:txBody>
      </p:sp>
      <p:sp>
        <p:nvSpPr>
          <p:cNvPr id="66" name="Google Shape;66;p14"/>
          <p:cNvSpPr txBox="1"/>
          <p:nvPr/>
        </p:nvSpPr>
        <p:spPr>
          <a:xfrm>
            <a:off x="234875" y="4018775"/>
            <a:ext cx="5839500" cy="652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1200"/>
              </a:spcAft>
              <a:buClr>
                <a:schemeClr val="dk1"/>
              </a:buClr>
              <a:buSzPts val="1100"/>
              <a:buFont typeface="Arial"/>
              <a:buNone/>
            </a:pPr>
            <a:r>
              <a:rPr lang="en">
                <a:solidFill>
                  <a:srgbClr val="CC4125"/>
                </a:solidFill>
                <a:latin typeface="Helvetica Neue Light"/>
                <a:ea typeface="Helvetica Neue Light"/>
                <a:cs typeface="Helvetica Neue Light"/>
                <a:sym typeface="Helvetica Neue Light"/>
              </a:rPr>
              <a:t>ENGIN GEDIK, IAN BARRIE, RAGHAV AGARWAL, SASHA NAUSHAD</a:t>
            </a:r>
            <a:endParaRPr>
              <a:solidFill>
                <a:srgbClr val="CC4125"/>
              </a:solidFill>
              <a:latin typeface="Helvetica Neue Light"/>
              <a:ea typeface="Helvetica Neue Light"/>
              <a:cs typeface="Helvetica Neue Light"/>
              <a:sym typeface="Helvetica Neue Light"/>
            </a:endParaRPr>
          </a:p>
        </p:txBody>
      </p:sp>
      <p:sp>
        <p:nvSpPr>
          <p:cNvPr id="67" name="Google Shape;67;p14"/>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00</a:t>
            </a:r>
            <a:endParaRPr b="1" sz="1800">
              <a:solidFill>
                <a:srgbClr val="CC4125"/>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73" name="Google Shape;73;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74" name="Google Shape;74;p15"/>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75" name="Google Shape;75;p15"/>
          <p:cNvSpPr txBox="1"/>
          <p:nvPr/>
        </p:nvSpPr>
        <p:spPr>
          <a:xfrm>
            <a:off x="-1302812" y="2204125"/>
            <a:ext cx="72363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rgbClr val="CC4125"/>
                </a:solidFill>
              </a:rPr>
              <a:t>PROBLEM</a:t>
            </a:r>
            <a:endParaRPr b="1" sz="7200">
              <a:solidFill>
                <a:srgbClr val="CC4125"/>
              </a:solidFill>
            </a:endParaRPr>
          </a:p>
        </p:txBody>
      </p:sp>
      <p:cxnSp>
        <p:nvCxnSpPr>
          <p:cNvPr id="76" name="Google Shape;76;p15"/>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77" name="Google Shape;77;p15"/>
          <p:cNvSpPr txBox="1"/>
          <p:nvPr/>
        </p:nvSpPr>
        <p:spPr>
          <a:xfrm>
            <a:off x="1366228" y="2571750"/>
            <a:ext cx="66102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WHAT IS THE ISSUE AT HAND?</a:t>
            </a:r>
            <a:endParaRPr sz="3000">
              <a:solidFill>
                <a:srgbClr val="FFFFFF"/>
              </a:solidFill>
              <a:latin typeface="Oswald"/>
              <a:ea typeface="Oswald"/>
              <a:cs typeface="Oswald"/>
              <a:sym typeface="Oswald"/>
            </a:endParaRPr>
          </a:p>
        </p:txBody>
      </p:sp>
      <p:sp>
        <p:nvSpPr>
          <p:cNvPr id="78" name="Google Shape;78;p15"/>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02</a:t>
            </a:r>
            <a:endParaRPr b="1" sz="1800">
              <a:solidFill>
                <a:srgbClr val="CC4125"/>
              </a:solidFill>
              <a:latin typeface="Helvetica Neue"/>
              <a:ea typeface="Helvetica Neue"/>
              <a:cs typeface="Helvetica Neue"/>
              <a:sym typeface="Helvetica Neue"/>
            </a:endParaRPr>
          </a:p>
        </p:txBody>
      </p:sp>
      <p:sp>
        <p:nvSpPr>
          <p:cNvPr id="79" name="Google Shape;79;p15"/>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SASHA NAUSHAD </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PROBLEM</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
        <p:nvSpPr>
          <p:cNvPr id="80" name="Google Shape;80;p15"/>
          <p:cNvSpPr txBox="1"/>
          <p:nvPr/>
        </p:nvSpPr>
        <p:spPr>
          <a:xfrm>
            <a:off x="1026925" y="25700"/>
            <a:ext cx="7526400" cy="1473600"/>
          </a:xfrm>
          <a:prstGeom prst="rect">
            <a:avLst/>
          </a:prstGeom>
          <a:noFill/>
          <a:ln>
            <a:noFill/>
          </a:ln>
        </p:spPr>
        <p:txBody>
          <a:bodyPr anchorCtr="0" anchor="ctr" bIns="91425" lIns="91425" spcFirstLastPara="1" rIns="91425" wrap="square" tIns="91425">
            <a:noAutofit/>
          </a:bodyPr>
          <a:lstStyle/>
          <a:p>
            <a:pPr indent="0" lvl="0" marL="457200" rtl="0" algn="r">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THE SIGNIFICANCE OF CROP YIELD FORECASTING</a:t>
            </a:r>
            <a:endParaRPr b="1" sz="1800">
              <a:solidFill>
                <a:srgbClr val="CC4125"/>
              </a:solidFill>
              <a:latin typeface="Helvetica Neue"/>
              <a:ea typeface="Helvetica Neue"/>
              <a:cs typeface="Helvetica Neue"/>
              <a:sym typeface="Helvetica Neue"/>
            </a:endParaRPr>
          </a:p>
        </p:txBody>
      </p:sp>
      <p:sp>
        <p:nvSpPr>
          <p:cNvPr id="81" name="Google Shape;81;p15"/>
          <p:cNvSpPr txBox="1"/>
          <p:nvPr/>
        </p:nvSpPr>
        <p:spPr>
          <a:xfrm>
            <a:off x="1560325" y="1029975"/>
            <a:ext cx="6993000" cy="652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latin typeface="Helvetica Neue Light"/>
                <a:ea typeface="Helvetica Neue Light"/>
                <a:cs typeface="Helvetica Neue Light"/>
                <a:sym typeface="Helvetica Neue Light"/>
              </a:rPr>
              <a:t>WHO ARE THE STAKEHOLDERS OF CROP YIELD?</a:t>
            </a:r>
            <a:endParaRPr>
              <a:solidFill>
                <a:schemeClr val="dk1"/>
              </a:solidFill>
              <a:latin typeface="Helvetica Neue Light"/>
              <a:ea typeface="Helvetica Neue Light"/>
              <a:cs typeface="Helvetica Neue Light"/>
              <a:sym typeface="Helvetica Neue Light"/>
            </a:endParaRPr>
          </a:p>
          <a:p>
            <a:pPr indent="0" lvl="0" marL="0" rtl="0" algn="r">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r">
              <a:spcBef>
                <a:spcPts val="0"/>
              </a:spcBef>
              <a:spcAft>
                <a:spcPts val="0"/>
              </a:spcAft>
              <a:buNone/>
            </a:pPr>
            <a:r>
              <a:rPr lang="en">
                <a:solidFill>
                  <a:schemeClr val="dk1"/>
                </a:solidFill>
                <a:latin typeface="Helvetica Neue Light"/>
                <a:ea typeface="Helvetica Neue Light"/>
                <a:cs typeface="Helvetica Neue Light"/>
                <a:sym typeface="Helvetica Neue Light"/>
              </a:rPr>
              <a:t>WHAT ARE THE LIMITATIONS OF CURRENT ESTIMATION METHODS?</a:t>
            </a:r>
            <a:endParaRPr>
              <a:solidFill>
                <a:schemeClr val="dk1"/>
              </a:solidFill>
              <a:latin typeface="Helvetica Neue Light"/>
              <a:ea typeface="Helvetica Neue Light"/>
              <a:cs typeface="Helvetica Neue Light"/>
              <a:sym typeface="Helvetica Neue Light"/>
            </a:endParaRPr>
          </a:p>
          <a:p>
            <a:pPr indent="0" lvl="0" marL="0" rtl="0" algn="r">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r">
              <a:spcBef>
                <a:spcPts val="0"/>
              </a:spcBef>
              <a:spcAft>
                <a:spcPts val="0"/>
              </a:spcAft>
              <a:buNone/>
            </a:pPr>
            <a:r>
              <a:rPr lang="en">
                <a:solidFill>
                  <a:schemeClr val="dk1"/>
                </a:solidFill>
                <a:latin typeface="Helvetica Neue Light"/>
                <a:ea typeface="Helvetica Neue Light"/>
                <a:cs typeface="Helvetica Neue Light"/>
                <a:sym typeface="Helvetica Neue Light"/>
              </a:rPr>
              <a:t>HOW CAN PREDICTION BE REVOLUTIONIZED?</a:t>
            </a:r>
            <a:endParaRPr>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7" name="Google Shape;87;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88" name="Google Shape;88;p16"/>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89" name="Google Shape;89;p16"/>
          <p:cNvSpPr txBox="1"/>
          <p:nvPr/>
        </p:nvSpPr>
        <p:spPr>
          <a:xfrm>
            <a:off x="630625" y="1311375"/>
            <a:ext cx="79146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600">
                <a:solidFill>
                  <a:srgbClr val="CC4125"/>
                </a:solidFill>
              </a:rPr>
              <a:t>THE POWER OF AI</a:t>
            </a:r>
            <a:endParaRPr b="1" sz="6600">
              <a:solidFill>
                <a:srgbClr val="CC4125"/>
              </a:solidFill>
            </a:endParaRPr>
          </a:p>
        </p:txBody>
      </p:sp>
      <p:cxnSp>
        <p:nvCxnSpPr>
          <p:cNvPr id="90" name="Google Shape;90;p16"/>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91" name="Google Shape;91;p16"/>
          <p:cNvSpPr txBox="1"/>
          <p:nvPr/>
        </p:nvSpPr>
        <p:spPr>
          <a:xfrm>
            <a:off x="1721250" y="2360730"/>
            <a:ext cx="57015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TIME CONSTRAINTS AND EFFICIENCY</a:t>
            </a:r>
            <a:endParaRPr sz="3000">
              <a:solidFill>
                <a:srgbClr val="FFFFFF"/>
              </a:solidFill>
              <a:latin typeface="Oswald"/>
              <a:ea typeface="Oswald"/>
              <a:cs typeface="Oswald"/>
              <a:sym typeface="Oswald"/>
            </a:endParaRPr>
          </a:p>
        </p:txBody>
      </p:sp>
      <p:sp>
        <p:nvSpPr>
          <p:cNvPr id="92" name="Google Shape;92;p16"/>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04</a:t>
            </a:r>
            <a:endParaRPr b="1" sz="1800">
              <a:solidFill>
                <a:srgbClr val="CC4125"/>
              </a:solidFill>
              <a:latin typeface="Helvetica Neue"/>
              <a:ea typeface="Helvetica Neue"/>
              <a:cs typeface="Helvetica Neue"/>
              <a:sym typeface="Helvetica Neue"/>
            </a:endParaRPr>
          </a:p>
        </p:txBody>
      </p:sp>
      <p:sp>
        <p:nvSpPr>
          <p:cNvPr id="93" name="Google Shape;93;p16"/>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SASHA NAUSHAD</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AI-USE STATEMENT</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9" name="Google Shape;99;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100" name="Google Shape;100;p17"/>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101" name="Google Shape;101;p17"/>
          <p:cNvSpPr txBox="1"/>
          <p:nvPr/>
        </p:nvSpPr>
        <p:spPr>
          <a:xfrm>
            <a:off x="-931753" y="-611900"/>
            <a:ext cx="76797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rgbClr val="CC4125"/>
                </a:solidFill>
              </a:rPr>
              <a:t>SOLUTION</a:t>
            </a:r>
            <a:endParaRPr b="1" sz="7200">
              <a:solidFill>
                <a:srgbClr val="CC4125"/>
              </a:solidFill>
            </a:endParaRPr>
          </a:p>
        </p:txBody>
      </p:sp>
      <p:cxnSp>
        <p:nvCxnSpPr>
          <p:cNvPr id="102" name="Google Shape;102;p17"/>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103" name="Google Shape;103;p17"/>
          <p:cNvSpPr txBox="1"/>
          <p:nvPr/>
        </p:nvSpPr>
        <p:spPr>
          <a:xfrm>
            <a:off x="2130600" y="490425"/>
            <a:ext cx="67017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HIGH LEVEL MULTI-MODEL SYSTEM</a:t>
            </a:r>
            <a:endParaRPr sz="3000">
              <a:solidFill>
                <a:srgbClr val="FFFFFF"/>
              </a:solidFill>
              <a:latin typeface="Oswald"/>
              <a:ea typeface="Oswald"/>
              <a:cs typeface="Oswald"/>
              <a:sym typeface="Oswald"/>
            </a:endParaRPr>
          </a:p>
        </p:txBody>
      </p:sp>
      <p:sp>
        <p:nvSpPr>
          <p:cNvPr id="104" name="Google Shape;104;p17"/>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03</a:t>
            </a:r>
            <a:endParaRPr b="1" sz="1800">
              <a:solidFill>
                <a:srgbClr val="CC4125"/>
              </a:solidFill>
              <a:latin typeface="Helvetica Neue"/>
              <a:ea typeface="Helvetica Neue"/>
              <a:cs typeface="Helvetica Neue"/>
              <a:sym typeface="Helvetica Neue"/>
            </a:endParaRPr>
          </a:p>
        </p:txBody>
      </p:sp>
      <p:sp>
        <p:nvSpPr>
          <p:cNvPr id="105" name="Google Shape;105;p17"/>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ENGIN GEDIK</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COLLECTION AND METHOD</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
        <p:nvSpPr>
          <p:cNvPr id="106" name="Google Shape;106;p17"/>
          <p:cNvSpPr txBox="1"/>
          <p:nvPr/>
        </p:nvSpPr>
        <p:spPr>
          <a:xfrm>
            <a:off x="748725" y="1283025"/>
            <a:ext cx="3752700" cy="652500"/>
          </a:xfrm>
          <a:prstGeom prst="rect">
            <a:avLst/>
          </a:prstGeom>
          <a:noFill/>
          <a:ln>
            <a:noFill/>
          </a:ln>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Clr>
                <a:srgbClr val="CC4125"/>
              </a:buClr>
              <a:buSzPts val="1800"/>
              <a:buFont typeface="Helvetica Neue"/>
              <a:buChar char="●"/>
            </a:pPr>
            <a:r>
              <a:rPr b="1" lang="en" sz="1800">
                <a:solidFill>
                  <a:srgbClr val="CC4125"/>
                </a:solidFill>
                <a:latin typeface="Helvetica Neue"/>
                <a:ea typeface="Helvetica Neue"/>
                <a:cs typeface="Helvetica Neue"/>
                <a:sym typeface="Helvetica Neue"/>
              </a:rPr>
              <a:t>INITIAL APPROACH</a:t>
            </a:r>
            <a:endParaRPr b="1" sz="1800">
              <a:solidFill>
                <a:srgbClr val="CC4125"/>
              </a:solidFill>
              <a:latin typeface="Helvetica Neue"/>
              <a:ea typeface="Helvetica Neue"/>
              <a:cs typeface="Helvetica Neue"/>
              <a:sym typeface="Helvetica Neue"/>
            </a:endParaRPr>
          </a:p>
        </p:txBody>
      </p:sp>
      <p:sp>
        <p:nvSpPr>
          <p:cNvPr id="107" name="Google Shape;107;p17"/>
          <p:cNvSpPr txBox="1"/>
          <p:nvPr/>
        </p:nvSpPr>
        <p:spPr>
          <a:xfrm>
            <a:off x="1238575" y="1811150"/>
            <a:ext cx="28695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HLS SATELLITE DATA, CDL MASKS, NDVI (NORMALIZED DIFFERENCE VEGETATION INDEX)</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MORE ACCURATE - COST OF TIME</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NEED FOR INCREASED DATA IMPLEMENTATION</a:t>
            </a:r>
            <a:endParaRPr>
              <a:solidFill>
                <a:schemeClr val="dk1"/>
              </a:solidFill>
              <a:latin typeface="Helvetica Neue Light"/>
              <a:ea typeface="Helvetica Neue Light"/>
              <a:cs typeface="Helvetica Neue Light"/>
              <a:sym typeface="Helvetica Neue Light"/>
            </a:endParaRPr>
          </a:p>
        </p:txBody>
      </p:sp>
      <p:sp>
        <p:nvSpPr>
          <p:cNvPr id="108" name="Google Shape;108;p17"/>
          <p:cNvSpPr txBox="1"/>
          <p:nvPr/>
        </p:nvSpPr>
        <p:spPr>
          <a:xfrm>
            <a:off x="4501425" y="1395613"/>
            <a:ext cx="3752700" cy="6525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rgbClr val="CC4125"/>
              </a:buClr>
              <a:buSzPts val="1800"/>
              <a:buFont typeface="Helvetica Neue"/>
              <a:buChar char="●"/>
            </a:pPr>
            <a:r>
              <a:rPr b="1" lang="en" sz="1800">
                <a:solidFill>
                  <a:srgbClr val="CC4125"/>
                </a:solidFill>
                <a:latin typeface="Helvetica Neue"/>
                <a:ea typeface="Helvetica Neue"/>
                <a:cs typeface="Helvetica Neue"/>
                <a:sym typeface="Helvetica Neue"/>
              </a:rPr>
              <a:t>WORKING APPROACH</a:t>
            </a:r>
            <a:endParaRPr b="1" sz="1800">
              <a:solidFill>
                <a:srgbClr val="CC4125"/>
              </a:solidFill>
              <a:latin typeface="Helvetica Neue"/>
              <a:ea typeface="Helvetica Neue"/>
              <a:cs typeface="Helvetica Neue"/>
              <a:sym typeface="Helvetica Neue"/>
            </a:endParaRPr>
          </a:p>
        </p:txBody>
      </p:sp>
      <p:sp>
        <p:nvSpPr>
          <p:cNvPr id="109" name="Google Shape;109;p17"/>
          <p:cNvSpPr txBox="1"/>
          <p:nvPr/>
        </p:nvSpPr>
        <p:spPr>
          <a:xfrm>
            <a:off x="4943025" y="1811150"/>
            <a:ext cx="28695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INCREASE IN PIPELINES, TWO PIPELINES IN DEVELOPMENT</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CHECKING FOR REDUNDANCY</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OUTPUT COMPARISON AND VARIATION IN TRAINING DATA</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15" name="Google Shape;115;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116" name="Google Shape;116;p18"/>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117" name="Google Shape;117;p18"/>
          <p:cNvSpPr txBox="1"/>
          <p:nvPr/>
        </p:nvSpPr>
        <p:spPr>
          <a:xfrm>
            <a:off x="327625" y="1071694"/>
            <a:ext cx="8520600" cy="250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100">
                <a:solidFill>
                  <a:srgbClr val="CC4125"/>
                </a:solidFill>
              </a:rPr>
              <a:t>DATA + MODELING</a:t>
            </a:r>
            <a:endParaRPr b="1" sz="7100">
              <a:solidFill>
                <a:srgbClr val="CC4125"/>
              </a:solidFill>
            </a:endParaRPr>
          </a:p>
        </p:txBody>
      </p:sp>
      <p:cxnSp>
        <p:nvCxnSpPr>
          <p:cNvPr id="118" name="Google Shape;118;p18"/>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119" name="Google Shape;119;p18"/>
          <p:cNvSpPr txBox="1"/>
          <p:nvPr/>
        </p:nvSpPr>
        <p:spPr>
          <a:xfrm>
            <a:off x="1716300" y="2356875"/>
            <a:ext cx="56334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THE TECHNICAL CORE OF THE MODEL</a:t>
            </a:r>
            <a:endParaRPr sz="3000">
              <a:solidFill>
                <a:srgbClr val="FFFFFF"/>
              </a:solidFill>
              <a:latin typeface="Oswald"/>
              <a:ea typeface="Oswald"/>
              <a:cs typeface="Oswald"/>
              <a:sym typeface="Oswald"/>
            </a:endParaRPr>
          </a:p>
        </p:txBody>
      </p:sp>
      <p:sp>
        <p:nvSpPr>
          <p:cNvPr id="120" name="Google Shape;120;p18"/>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04</a:t>
            </a:r>
            <a:endParaRPr b="1" sz="1800">
              <a:solidFill>
                <a:srgbClr val="CC4125"/>
              </a:solidFill>
              <a:latin typeface="Helvetica Neue"/>
              <a:ea typeface="Helvetica Neue"/>
              <a:cs typeface="Helvetica Neue"/>
              <a:sym typeface="Helvetica Neue"/>
            </a:endParaRPr>
          </a:p>
        </p:txBody>
      </p:sp>
      <p:sp>
        <p:nvSpPr>
          <p:cNvPr id="121" name="Google Shape;121;p18"/>
          <p:cNvSpPr txBox="1"/>
          <p:nvPr/>
        </p:nvSpPr>
        <p:spPr>
          <a:xfrm>
            <a:off x="239875" y="4136200"/>
            <a:ext cx="61164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ENGIN GEDIK, IAN BARRIE, RAGHAV AGARWAL</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DATA + MODELING</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27" name="Google Shape;127;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128" name="Google Shape;128;p19"/>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129" name="Google Shape;129;p19"/>
          <p:cNvSpPr txBox="1"/>
          <p:nvPr/>
        </p:nvSpPr>
        <p:spPr>
          <a:xfrm rot="-5400000">
            <a:off x="-2377752" y="889839"/>
            <a:ext cx="55491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rgbClr val="CC4125"/>
                </a:solidFill>
              </a:rPr>
              <a:t>INSIGHT</a:t>
            </a:r>
            <a:endParaRPr b="1" sz="7200">
              <a:solidFill>
                <a:srgbClr val="CC4125"/>
              </a:solidFill>
            </a:endParaRPr>
          </a:p>
        </p:txBody>
      </p:sp>
      <p:cxnSp>
        <p:nvCxnSpPr>
          <p:cNvPr id="130" name="Google Shape;130;p19"/>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131" name="Google Shape;131;p19"/>
          <p:cNvSpPr txBox="1"/>
          <p:nvPr/>
        </p:nvSpPr>
        <p:spPr>
          <a:xfrm>
            <a:off x="239875" y="3343600"/>
            <a:ext cx="58170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DATA POINTS THAT DRIVE CROP YIELD</a:t>
            </a:r>
            <a:endParaRPr sz="3000">
              <a:solidFill>
                <a:srgbClr val="FFFFFF"/>
              </a:solidFill>
              <a:latin typeface="Oswald"/>
              <a:ea typeface="Oswald"/>
              <a:cs typeface="Oswald"/>
              <a:sym typeface="Oswald"/>
            </a:endParaRPr>
          </a:p>
        </p:txBody>
      </p:sp>
      <p:sp>
        <p:nvSpPr>
          <p:cNvPr id="132" name="Google Shape;132;p19"/>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06</a:t>
            </a:r>
            <a:endParaRPr b="1" sz="1800">
              <a:solidFill>
                <a:srgbClr val="CC4125"/>
              </a:solidFill>
              <a:latin typeface="Helvetica Neue"/>
              <a:ea typeface="Helvetica Neue"/>
              <a:cs typeface="Helvetica Neue"/>
              <a:sym typeface="Helvetica Neue"/>
            </a:endParaRPr>
          </a:p>
        </p:txBody>
      </p:sp>
      <p:sp>
        <p:nvSpPr>
          <p:cNvPr id="133" name="Google Shape;133;p19"/>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RAGHAV AGARWAL</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DATA + MODELING</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
        <p:nvSpPr>
          <p:cNvPr id="134" name="Google Shape;134;p19"/>
          <p:cNvSpPr txBox="1"/>
          <p:nvPr/>
        </p:nvSpPr>
        <p:spPr>
          <a:xfrm>
            <a:off x="985297" y="233737"/>
            <a:ext cx="3143700" cy="652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SATELLITE IMAGERY</a:t>
            </a:r>
            <a:endParaRPr b="1" sz="1800">
              <a:solidFill>
                <a:srgbClr val="CC4125"/>
              </a:solidFill>
              <a:latin typeface="Helvetica Neue"/>
              <a:ea typeface="Helvetica Neue"/>
              <a:cs typeface="Helvetica Neue"/>
              <a:sym typeface="Helvetica Neue"/>
            </a:endParaRPr>
          </a:p>
        </p:txBody>
      </p:sp>
      <p:sp>
        <p:nvSpPr>
          <p:cNvPr id="135" name="Google Shape;135;p19"/>
          <p:cNvSpPr txBox="1"/>
          <p:nvPr/>
        </p:nvSpPr>
        <p:spPr>
          <a:xfrm>
            <a:off x="985301" y="631750"/>
            <a:ext cx="27537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Helvetica Neue"/>
                <a:ea typeface="Helvetica Neue"/>
                <a:cs typeface="Helvetica Neue"/>
                <a:sym typeface="Helvetica Neue"/>
              </a:rPr>
              <a:t>HLS </a:t>
            </a:r>
            <a:r>
              <a:rPr lang="en" sz="1300">
                <a:solidFill>
                  <a:schemeClr val="dk1"/>
                </a:solidFill>
                <a:latin typeface="Helvetica Neue Light"/>
                <a:ea typeface="Helvetica Neue Light"/>
                <a:cs typeface="Helvetica Neue Light"/>
                <a:sym typeface="Helvetica Neue Light"/>
              </a:rPr>
              <a:t>(HARMONIZED LANDSAT SENTINEL):</a:t>
            </a:r>
            <a:endParaRPr sz="1300">
              <a:solidFill>
                <a:schemeClr val="dk1"/>
              </a:solidFill>
              <a:latin typeface="Helvetica Neue Light"/>
              <a:ea typeface="Helvetica Neue Light"/>
              <a:cs typeface="Helvetica Neue Light"/>
              <a:sym typeface="Helvetica Neue Light"/>
            </a:endParaRPr>
          </a:p>
          <a:p>
            <a:pPr indent="-311150" lvl="0" marL="457200" rtl="0" algn="l">
              <a:spcBef>
                <a:spcPts val="0"/>
              </a:spcBef>
              <a:spcAft>
                <a:spcPts val="0"/>
              </a:spcAft>
              <a:buClr>
                <a:schemeClr val="dk1"/>
              </a:buClr>
              <a:buSzPts val="1300"/>
              <a:buFont typeface="Helvetica Neue Light"/>
              <a:buChar char="●"/>
            </a:pPr>
            <a:r>
              <a:rPr lang="en" sz="1300">
                <a:solidFill>
                  <a:schemeClr val="dk1"/>
                </a:solidFill>
                <a:latin typeface="Helvetica Neue Light"/>
                <a:ea typeface="Helvetica Neue Light"/>
                <a:cs typeface="Helvetica Neue Light"/>
                <a:sym typeface="Helvetica Neue Light"/>
              </a:rPr>
              <a:t>NDVI</a:t>
            </a:r>
            <a:endParaRPr sz="1300">
              <a:solidFill>
                <a:schemeClr val="dk1"/>
              </a:solidFill>
              <a:latin typeface="Helvetica Neue Light"/>
              <a:ea typeface="Helvetica Neue Light"/>
              <a:cs typeface="Helvetica Neue Light"/>
              <a:sym typeface="Helvetica Neue Light"/>
            </a:endParaRPr>
          </a:p>
          <a:p>
            <a:pPr indent="-311150" lvl="0" marL="457200" rtl="0" algn="l">
              <a:spcBef>
                <a:spcPts val="0"/>
              </a:spcBef>
              <a:spcAft>
                <a:spcPts val="0"/>
              </a:spcAft>
              <a:buClr>
                <a:schemeClr val="dk1"/>
              </a:buClr>
              <a:buSzPts val="1300"/>
              <a:buFont typeface="Helvetica Neue Light"/>
              <a:buChar char="●"/>
            </a:pPr>
            <a:r>
              <a:rPr lang="en" sz="1300">
                <a:solidFill>
                  <a:schemeClr val="dk1"/>
                </a:solidFill>
                <a:latin typeface="Helvetica Neue Light"/>
                <a:ea typeface="Helvetica Neue Light"/>
                <a:cs typeface="Helvetica Neue Light"/>
                <a:sym typeface="Helvetica Neue Light"/>
              </a:rPr>
              <a:t>EVI </a:t>
            </a:r>
            <a:endParaRPr sz="13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3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 sz="1300">
                <a:solidFill>
                  <a:schemeClr val="dk1"/>
                </a:solidFill>
                <a:latin typeface="Helvetica Neue"/>
                <a:ea typeface="Helvetica Neue"/>
                <a:cs typeface="Helvetica Neue"/>
                <a:sym typeface="Helvetica Neue"/>
              </a:rPr>
              <a:t>CDL </a:t>
            </a:r>
            <a:r>
              <a:rPr lang="en" sz="1300">
                <a:solidFill>
                  <a:schemeClr val="dk1"/>
                </a:solidFill>
                <a:latin typeface="Helvetica Neue Light"/>
                <a:ea typeface="Helvetica Neue Light"/>
                <a:cs typeface="Helvetica Neue Light"/>
                <a:sym typeface="Helvetica Neue Light"/>
              </a:rPr>
              <a:t>(CROPLAND DATA LAYER):</a:t>
            </a:r>
            <a:endParaRPr sz="1300">
              <a:solidFill>
                <a:schemeClr val="dk1"/>
              </a:solidFill>
              <a:latin typeface="Helvetica Neue Light"/>
              <a:ea typeface="Helvetica Neue Light"/>
              <a:cs typeface="Helvetica Neue Light"/>
              <a:sym typeface="Helvetica Neue Light"/>
            </a:endParaRPr>
          </a:p>
          <a:p>
            <a:pPr indent="-311150" lvl="0" marL="457200" rtl="0" algn="l">
              <a:spcBef>
                <a:spcPts val="0"/>
              </a:spcBef>
              <a:spcAft>
                <a:spcPts val="0"/>
              </a:spcAft>
              <a:buClr>
                <a:schemeClr val="dk1"/>
              </a:buClr>
              <a:buSzPts val="1300"/>
              <a:buFont typeface="Helvetica Neue Light"/>
              <a:buChar char="●"/>
            </a:pPr>
            <a:r>
              <a:rPr lang="en" sz="1300">
                <a:solidFill>
                  <a:schemeClr val="dk1"/>
                </a:solidFill>
                <a:latin typeface="Helvetica Neue Light"/>
                <a:ea typeface="Helvetica Neue Light"/>
                <a:cs typeface="Helvetica Neue Light"/>
                <a:sym typeface="Helvetica Neue Light"/>
              </a:rPr>
              <a:t>CROP MASKS</a:t>
            </a:r>
            <a:endParaRPr sz="13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3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 sz="1300">
                <a:solidFill>
                  <a:schemeClr val="dk1"/>
                </a:solidFill>
                <a:latin typeface="Helvetica Neue"/>
                <a:ea typeface="Helvetica Neue"/>
                <a:cs typeface="Helvetica Neue"/>
                <a:sym typeface="Helvetica Neue"/>
              </a:rPr>
              <a:t>PRISM</a:t>
            </a:r>
            <a:r>
              <a:rPr lang="en" sz="1300">
                <a:solidFill>
                  <a:schemeClr val="dk1"/>
                </a:solidFill>
                <a:latin typeface="Helvetica Neue Light"/>
                <a:ea typeface="Helvetica Neue Light"/>
                <a:cs typeface="Helvetica Neue Light"/>
                <a:sym typeface="Helvetica Neue Light"/>
              </a:rPr>
              <a:t>:</a:t>
            </a:r>
            <a:endParaRPr sz="1300">
              <a:solidFill>
                <a:schemeClr val="dk1"/>
              </a:solidFill>
              <a:latin typeface="Helvetica Neue Light"/>
              <a:ea typeface="Helvetica Neue Light"/>
              <a:cs typeface="Helvetica Neue Light"/>
              <a:sym typeface="Helvetica Neue Light"/>
            </a:endParaRPr>
          </a:p>
          <a:p>
            <a:pPr indent="-311150" lvl="0" marL="457200" rtl="0" algn="l">
              <a:spcBef>
                <a:spcPts val="0"/>
              </a:spcBef>
              <a:spcAft>
                <a:spcPts val="0"/>
              </a:spcAft>
              <a:buClr>
                <a:schemeClr val="dk1"/>
              </a:buClr>
              <a:buSzPts val="1300"/>
              <a:buFont typeface="Helvetica Neue Light"/>
              <a:buChar char="●"/>
            </a:pPr>
            <a:r>
              <a:rPr lang="en" sz="1300">
                <a:solidFill>
                  <a:schemeClr val="dk1"/>
                </a:solidFill>
                <a:latin typeface="Helvetica Neue Light"/>
                <a:ea typeface="Helvetica Neue Light"/>
                <a:cs typeface="Helvetica Neue Light"/>
                <a:sym typeface="Helvetica Neue Light"/>
              </a:rPr>
              <a:t>TEMPERATURE MEAN</a:t>
            </a:r>
            <a:endParaRPr sz="1300">
              <a:solidFill>
                <a:schemeClr val="dk1"/>
              </a:solidFill>
              <a:latin typeface="Helvetica Neue Light"/>
              <a:ea typeface="Helvetica Neue Light"/>
              <a:cs typeface="Helvetica Neue Light"/>
              <a:sym typeface="Helvetica Neue Light"/>
            </a:endParaRPr>
          </a:p>
          <a:p>
            <a:pPr indent="-311150" lvl="0" marL="457200" rtl="0" algn="l">
              <a:spcBef>
                <a:spcPts val="0"/>
              </a:spcBef>
              <a:spcAft>
                <a:spcPts val="0"/>
              </a:spcAft>
              <a:buClr>
                <a:schemeClr val="dk1"/>
              </a:buClr>
              <a:buSzPts val="1300"/>
              <a:buFont typeface="Helvetica Neue Light"/>
              <a:buChar char="●"/>
            </a:pPr>
            <a:r>
              <a:rPr lang="en" sz="1300">
                <a:solidFill>
                  <a:schemeClr val="dk1"/>
                </a:solidFill>
                <a:latin typeface="Helvetica Neue Light"/>
                <a:ea typeface="Helvetica Neue Light"/>
                <a:cs typeface="Helvetica Neue Light"/>
                <a:sym typeface="Helvetica Neue Light"/>
              </a:rPr>
              <a:t>PRECIPITATION LEVEL</a:t>
            </a:r>
            <a:endParaRPr sz="13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3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 sz="1300">
                <a:solidFill>
                  <a:schemeClr val="dk1"/>
                </a:solidFill>
                <a:latin typeface="Helvetica Neue"/>
                <a:ea typeface="Helvetica Neue"/>
                <a:cs typeface="Helvetica Neue"/>
                <a:sym typeface="Helvetica Neue"/>
              </a:rPr>
              <a:t>PRITHVI</a:t>
            </a:r>
            <a:endParaRPr b="1" sz="13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300">
              <a:solidFill>
                <a:schemeClr val="dk1"/>
              </a:solidFill>
              <a:latin typeface="Helvetica Neue Light"/>
              <a:ea typeface="Helvetica Neue Light"/>
              <a:cs typeface="Helvetica Neue Light"/>
              <a:sym typeface="Helvetica Neue Light"/>
            </a:endParaRPr>
          </a:p>
        </p:txBody>
      </p:sp>
      <p:sp>
        <p:nvSpPr>
          <p:cNvPr id="136" name="Google Shape;136;p19"/>
          <p:cNvSpPr txBox="1"/>
          <p:nvPr/>
        </p:nvSpPr>
        <p:spPr>
          <a:xfrm>
            <a:off x="4129000" y="631750"/>
            <a:ext cx="25665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USDA NASS</a:t>
            </a:r>
            <a:r>
              <a:rPr lang="en">
                <a:solidFill>
                  <a:schemeClr val="dk1"/>
                </a:solidFill>
                <a:latin typeface="Helvetica Neue Light"/>
                <a:ea typeface="Helvetica Neue Light"/>
                <a:cs typeface="Helvetica Neue Light"/>
                <a:sym typeface="Helvetica Neue Light"/>
              </a:rPr>
              <a:t>:</a:t>
            </a:r>
            <a:endParaRPr>
              <a:solidFill>
                <a:schemeClr val="dk1"/>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1"/>
              </a:buClr>
              <a:buSzPts val="1400"/>
              <a:buFont typeface="Helvetica Neue Light"/>
              <a:buChar char="●"/>
            </a:pPr>
            <a:r>
              <a:rPr lang="en">
                <a:solidFill>
                  <a:schemeClr val="dk1"/>
                </a:solidFill>
                <a:latin typeface="Helvetica Neue Light"/>
                <a:ea typeface="Helvetica Neue Light"/>
                <a:cs typeface="Helvetica Neue Light"/>
                <a:sym typeface="Helvetica Neue Light"/>
              </a:rPr>
              <a:t>CROP YIELD HISTORICAL ANALOG PER COUNTY</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GRIDMET:</a:t>
            </a:r>
            <a:endParaRPr b="1">
              <a:solidFill>
                <a:schemeClr val="dk1"/>
              </a:solidFill>
              <a:latin typeface="Helvetica Neue"/>
              <a:ea typeface="Helvetica Neue"/>
              <a:cs typeface="Helvetica Neue"/>
              <a:sym typeface="Helvetica Neue"/>
            </a:endParaRPr>
          </a:p>
          <a:p>
            <a:pPr indent="-317500" lvl="0" marL="457200" rtl="0" algn="l">
              <a:spcBef>
                <a:spcPts val="0"/>
              </a:spcBef>
              <a:spcAft>
                <a:spcPts val="0"/>
              </a:spcAft>
              <a:buClr>
                <a:schemeClr val="dk1"/>
              </a:buClr>
              <a:buSzPts val="1400"/>
              <a:buFont typeface="Helvetica Neue Light"/>
              <a:buChar char="●"/>
            </a:pPr>
            <a:r>
              <a:rPr lang="en">
                <a:solidFill>
                  <a:schemeClr val="dk1"/>
                </a:solidFill>
                <a:latin typeface="Helvetica Neue Light"/>
                <a:ea typeface="Helvetica Neue Light"/>
                <a:cs typeface="Helvetica Neue Light"/>
                <a:sym typeface="Helvetica Neue Light"/>
              </a:rPr>
              <a:t>CLIMATE VARIABLES</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US DROUGHT MONITOR:</a:t>
            </a:r>
            <a:endParaRPr b="1">
              <a:solidFill>
                <a:schemeClr val="dk1"/>
              </a:solidFill>
              <a:latin typeface="Helvetica Neue"/>
              <a:ea typeface="Helvetica Neue"/>
              <a:cs typeface="Helvetica Neue"/>
              <a:sym typeface="Helvetica Neue"/>
            </a:endParaRPr>
          </a:p>
          <a:p>
            <a:pPr indent="-317500" lvl="0" marL="457200" rtl="0" algn="l">
              <a:spcBef>
                <a:spcPts val="0"/>
              </a:spcBef>
              <a:spcAft>
                <a:spcPts val="0"/>
              </a:spcAft>
              <a:buClr>
                <a:schemeClr val="dk1"/>
              </a:buClr>
              <a:buSzPts val="1400"/>
              <a:buFont typeface="Helvetica Neue Light"/>
              <a:buChar char="●"/>
            </a:pPr>
            <a:r>
              <a:rPr lang="en">
                <a:solidFill>
                  <a:schemeClr val="dk1"/>
                </a:solidFill>
                <a:latin typeface="Helvetica Neue Light"/>
                <a:ea typeface="Helvetica Neue Light"/>
                <a:cs typeface="Helvetica Neue Light"/>
                <a:sym typeface="Helvetica Neue Light"/>
              </a:rPr>
              <a:t>DROUGHT SEVERITY</a:t>
            </a:r>
            <a:endParaRPr>
              <a:solidFill>
                <a:schemeClr val="dk1"/>
              </a:solidFill>
              <a:latin typeface="Helvetica Neue Light"/>
              <a:ea typeface="Helvetica Neue Light"/>
              <a:cs typeface="Helvetica Neue Light"/>
              <a:sym typeface="Helvetica Neue Light"/>
            </a:endParaRPr>
          </a:p>
        </p:txBody>
      </p:sp>
      <p:sp>
        <p:nvSpPr>
          <p:cNvPr id="137" name="Google Shape;137;p19"/>
          <p:cNvSpPr txBox="1"/>
          <p:nvPr/>
        </p:nvSpPr>
        <p:spPr>
          <a:xfrm>
            <a:off x="4056700" y="233735"/>
            <a:ext cx="3143700" cy="652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TABULAR DATA</a:t>
            </a:r>
            <a:endParaRPr b="1" sz="1800">
              <a:solidFill>
                <a:srgbClr val="CC4125"/>
              </a:solidFill>
              <a:latin typeface="Helvetica Neue"/>
              <a:ea typeface="Helvetica Neue"/>
              <a:cs typeface="Helvetica Neue"/>
              <a:sym typeface="Helvetica Neue"/>
            </a:endParaRPr>
          </a:p>
        </p:txBody>
      </p:sp>
      <p:sp>
        <p:nvSpPr>
          <p:cNvPr id="138" name="Google Shape;138;p19"/>
          <p:cNvSpPr txBox="1"/>
          <p:nvPr/>
        </p:nvSpPr>
        <p:spPr>
          <a:xfrm>
            <a:off x="7019998" y="1533925"/>
            <a:ext cx="1812300" cy="6525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en" sz="3200">
                <a:solidFill>
                  <a:srgbClr val="CC4125"/>
                </a:solidFill>
                <a:latin typeface="Helvetica Neue"/>
                <a:ea typeface="Helvetica Neue"/>
                <a:cs typeface="Helvetica Neue"/>
                <a:sym typeface="Helvetica Neue"/>
              </a:rPr>
              <a:t>WHY THESE DATA</a:t>
            </a:r>
            <a:endParaRPr b="1" sz="3200">
              <a:solidFill>
                <a:srgbClr val="CC4125"/>
              </a:solidFill>
              <a:latin typeface="Helvetica Neue"/>
              <a:ea typeface="Helvetica Neue"/>
              <a:cs typeface="Helvetica Neue"/>
              <a:sym typeface="Helvetica Neue"/>
            </a:endParaRPr>
          </a:p>
          <a:p>
            <a:pPr indent="0" lvl="0" marL="0" rtl="0" algn="r">
              <a:lnSpc>
                <a:spcPct val="100000"/>
              </a:lnSpc>
              <a:spcBef>
                <a:spcPts val="0"/>
              </a:spcBef>
              <a:spcAft>
                <a:spcPts val="0"/>
              </a:spcAft>
              <a:buNone/>
            </a:pPr>
            <a:r>
              <a:rPr b="1" lang="en" sz="3200">
                <a:solidFill>
                  <a:srgbClr val="CC4125"/>
                </a:solidFill>
                <a:latin typeface="Helvetica Neue"/>
                <a:ea typeface="Helvetica Neue"/>
                <a:cs typeface="Helvetica Neue"/>
                <a:sym typeface="Helvetica Neue"/>
              </a:rPr>
              <a:t>SETS?</a:t>
            </a:r>
            <a:endParaRPr b="1" sz="3200">
              <a:solidFill>
                <a:srgbClr val="CC4125"/>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 name="Shape 142"/>
        <p:cNvGrpSpPr/>
        <p:nvPr/>
      </p:nvGrpSpPr>
      <p:grpSpPr>
        <a:xfrm>
          <a:off x="0" y="0"/>
          <a:ext cx="0" cy="0"/>
          <a:chOff x="0" y="0"/>
          <a:chExt cx="0" cy="0"/>
        </a:xfrm>
      </p:grpSpPr>
      <p:sp>
        <p:nvSpPr>
          <p:cNvPr id="143" name="Google Shape;143;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44" name="Google Shape;144;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145" name="Google Shape;145;p20"/>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146" name="Google Shape;146;p20"/>
          <p:cNvSpPr txBox="1"/>
          <p:nvPr/>
        </p:nvSpPr>
        <p:spPr>
          <a:xfrm rot="-5400000">
            <a:off x="-2377752" y="987839"/>
            <a:ext cx="55491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rgbClr val="CC4125"/>
                </a:solidFill>
              </a:rPr>
              <a:t>MODELS</a:t>
            </a:r>
            <a:endParaRPr b="1" sz="7200">
              <a:solidFill>
                <a:srgbClr val="CC4125"/>
              </a:solidFill>
            </a:endParaRPr>
          </a:p>
        </p:txBody>
      </p:sp>
      <p:cxnSp>
        <p:nvCxnSpPr>
          <p:cNvPr id="147" name="Google Shape;147;p20"/>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148" name="Google Shape;148;p20"/>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06</a:t>
            </a:r>
            <a:endParaRPr b="1" sz="1800">
              <a:solidFill>
                <a:srgbClr val="CC4125"/>
              </a:solidFill>
              <a:latin typeface="Helvetica Neue"/>
              <a:ea typeface="Helvetica Neue"/>
              <a:cs typeface="Helvetica Neue"/>
              <a:sym typeface="Helvetica Neue"/>
            </a:endParaRPr>
          </a:p>
        </p:txBody>
      </p:sp>
      <p:sp>
        <p:nvSpPr>
          <p:cNvPr id="149" name="Google Shape;149;p20"/>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RAGHAV AGARWAL</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DATA + MODELING</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
        <p:nvSpPr>
          <p:cNvPr id="150" name="Google Shape;150;p20"/>
          <p:cNvSpPr txBox="1"/>
          <p:nvPr/>
        </p:nvSpPr>
        <p:spPr>
          <a:xfrm>
            <a:off x="1258467" y="233737"/>
            <a:ext cx="3143700" cy="652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2000">
                <a:solidFill>
                  <a:srgbClr val="CC4125"/>
                </a:solidFill>
                <a:latin typeface="Helvetica Neue"/>
                <a:ea typeface="Helvetica Neue"/>
                <a:cs typeface="Helvetica Neue"/>
                <a:sym typeface="Helvetica Neue"/>
              </a:rPr>
              <a:t>XGBoost</a:t>
            </a:r>
            <a:endParaRPr b="1" sz="2000">
              <a:solidFill>
                <a:srgbClr val="CC4125"/>
              </a:solidFill>
              <a:latin typeface="Helvetica Neue"/>
              <a:ea typeface="Helvetica Neue"/>
              <a:cs typeface="Helvetica Neue"/>
              <a:sym typeface="Helvetica Neue"/>
            </a:endParaRPr>
          </a:p>
        </p:txBody>
      </p:sp>
      <p:sp>
        <p:nvSpPr>
          <p:cNvPr id="151" name="Google Shape;151;p20"/>
          <p:cNvSpPr txBox="1"/>
          <p:nvPr/>
        </p:nvSpPr>
        <p:spPr>
          <a:xfrm>
            <a:off x="1258475" y="881425"/>
            <a:ext cx="24828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MAIN YIELD PREDICTOR, TRAINED</a:t>
            </a:r>
            <a:r>
              <a:rPr lang="en">
                <a:solidFill>
                  <a:schemeClr val="dk1"/>
                </a:solidFill>
                <a:latin typeface="Helvetica Neue Light"/>
                <a:ea typeface="Helvetica Neue Light"/>
                <a:cs typeface="Helvetica Neue Light"/>
                <a:sym typeface="Helvetica Neue Light"/>
              </a:rPr>
              <a:t> SEPARATELY PER FORECAST DATE</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ENSEMBLE MODEL THAT HANDLES MISSING VALUES, MIXED FEATURES, AND PROVIDES INTERPRETABLE FEATURE IMPORTANCE</a:t>
            </a:r>
            <a:endParaRPr>
              <a:solidFill>
                <a:schemeClr val="dk1"/>
              </a:solidFill>
              <a:latin typeface="Helvetica Neue Light"/>
              <a:ea typeface="Helvetica Neue Light"/>
              <a:cs typeface="Helvetica Neue Light"/>
              <a:sym typeface="Helvetica Neue Light"/>
            </a:endParaRPr>
          </a:p>
          <a:p>
            <a:pPr indent="0" lvl="0" marL="45720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300">
              <a:solidFill>
                <a:schemeClr val="dk1"/>
              </a:solidFill>
              <a:latin typeface="Helvetica Neue Light"/>
              <a:ea typeface="Helvetica Neue Light"/>
              <a:cs typeface="Helvetica Neue Light"/>
              <a:sym typeface="Helvetica Neue Light"/>
            </a:endParaRPr>
          </a:p>
        </p:txBody>
      </p:sp>
      <p:sp>
        <p:nvSpPr>
          <p:cNvPr id="152" name="Google Shape;152;p20"/>
          <p:cNvSpPr txBox="1"/>
          <p:nvPr/>
        </p:nvSpPr>
        <p:spPr>
          <a:xfrm>
            <a:off x="4056700" y="881425"/>
            <a:ext cx="24828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ANALOG YEAR FINDER FOR CONE OF UNCERTAINTY</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
                <a:solidFill>
                  <a:schemeClr val="dk1"/>
                </a:solidFill>
                <a:latin typeface="Helvetica Neue Light"/>
                <a:ea typeface="Helvetica Neue Light"/>
                <a:cs typeface="Helvetica Neue Light"/>
                <a:sym typeface="Helvetica Neue Light"/>
              </a:rPr>
              <a:t>FOUND</a:t>
            </a:r>
            <a:r>
              <a:rPr lang="en">
                <a:solidFill>
                  <a:schemeClr val="dk1"/>
                </a:solidFill>
                <a:latin typeface="Helvetica Neue Light"/>
                <a:ea typeface="Helvetica Neue Light"/>
                <a:cs typeface="Helvetica Neue Light"/>
                <a:sym typeface="Helvetica Neue Light"/>
              </a:rPr>
              <a:t> MOST SIMILAR HISTORICAL SEASONS TO 2025 TO BUILD THE UNCERTAINTY RANGE</a:t>
            </a:r>
            <a:endParaRPr>
              <a:solidFill>
                <a:schemeClr val="dk1"/>
              </a:solidFill>
              <a:latin typeface="Helvetica Neue Light"/>
              <a:ea typeface="Helvetica Neue Light"/>
              <a:cs typeface="Helvetica Neue Light"/>
              <a:sym typeface="Helvetica Neue Light"/>
            </a:endParaRPr>
          </a:p>
        </p:txBody>
      </p:sp>
      <p:sp>
        <p:nvSpPr>
          <p:cNvPr id="153" name="Google Shape;153;p20"/>
          <p:cNvSpPr txBox="1"/>
          <p:nvPr/>
        </p:nvSpPr>
        <p:spPr>
          <a:xfrm>
            <a:off x="4056700" y="233735"/>
            <a:ext cx="3143700" cy="652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2000">
                <a:solidFill>
                  <a:srgbClr val="CC4125"/>
                </a:solidFill>
                <a:latin typeface="Helvetica Neue"/>
                <a:ea typeface="Helvetica Neue"/>
                <a:cs typeface="Helvetica Neue"/>
                <a:sym typeface="Helvetica Neue"/>
              </a:rPr>
              <a:t>KNN</a:t>
            </a:r>
            <a:endParaRPr b="1" sz="2000">
              <a:solidFill>
                <a:srgbClr val="CC4125"/>
              </a:solidFill>
              <a:latin typeface="Helvetica Neue"/>
              <a:ea typeface="Helvetica Neue"/>
              <a:cs typeface="Helvetica Neue"/>
              <a:sym typeface="Helvetica Neue"/>
            </a:endParaRPr>
          </a:p>
        </p:txBody>
      </p:sp>
      <p:sp>
        <p:nvSpPr>
          <p:cNvPr id="154" name="Google Shape;154;p20"/>
          <p:cNvSpPr txBox="1"/>
          <p:nvPr/>
        </p:nvSpPr>
        <p:spPr>
          <a:xfrm>
            <a:off x="6056875" y="2284360"/>
            <a:ext cx="2753700" cy="61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en" sz="3200">
                <a:solidFill>
                  <a:srgbClr val="CC4125"/>
                </a:solidFill>
                <a:latin typeface="Helvetica Neue"/>
                <a:ea typeface="Helvetica Neue"/>
                <a:cs typeface="Helvetica Neue"/>
                <a:sym typeface="Helvetica Neue"/>
              </a:rPr>
              <a:t>INITIAL MODEL APPROACH</a:t>
            </a:r>
            <a:r>
              <a:rPr b="1" lang="en" sz="3200">
                <a:solidFill>
                  <a:srgbClr val="CC4125"/>
                </a:solidFill>
                <a:latin typeface="Helvetica Neue"/>
                <a:ea typeface="Helvetica Neue"/>
                <a:cs typeface="Helvetica Neue"/>
                <a:sym typeface="Helvetica Neue"/>
              </a:rPr>
              <a:t>?</a:t>
            </a:r>
            <a:endParaRPr b="1" sz="3200">
              <a:solidFill>
                <a:srgbClr val="CC4125"/>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0" name="Google Shape;160;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161" name="Google Shape;161;p21"/>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162" name="Google Shape;162;p21"/>
          <p:cNvSpPr txBox="1"/>
          <p:nvPr/>
        </p:nvSpPr>
        <p:spPr>
          <a:xfrm>
            <a:off x="-10475" y="-661787"/>
            <a:ext cx="9196800" cy="20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6200">
                <a:solidFill>
                  <a:srgbClr val="CC4125"/>
                </a:solidFill>
              </a:rPr>
              <a:t>DATA VISUAL</a:t>
            </a:r>
            <a:endParaRPr b="1" sz="6200">
              <a:solidFill>
                <a:srgbClr val="CC4125"/>
              </a:solidFill>
            </a:endParaRPr>
          </a:p>
        </p:txBody>
      </p:sp>
      <p:cxnSp>
        <p:nvCxnSpPr>
          <p:cNvPr id="163" name="Google Shape;163;p21"/>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164" name="Google Shape;164;p21"/>
          <p:cNvSpPr txBox="1"/>
          <p:nvPr/>
        </p:nvSpPr>
        <p:spPr>
          <a:xfrm>
            <a:off x="1205100" y="438525"/>
            <a:ext cx="79389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FFFFFF"/>
                </a:solidFill>
                <a:latin typeface="Oswald"/>
                <a:ea typeface="Oswald"/>
                <a:cs typeface="Oswald"/>
                <a:sym typeface="Oswald"/>
              </a:rPr>
              <a:t>HISTORICAL CORN YIELDS AND NDVI COMPARISON</a:t>
            </a:r>
            <a:endParaRPr sz="3000">
              <a:solidFill>
                <a:srgbClr val="FFFFFF"/>
              </a:solidFill>
              <a:latin typeface="Oswald"/>
              <a:ea typeface="Oswald"/>
              <a:cs typeface="Oswald"/>
              <a:sym typeface="Oswald"/>
            </a:endParaRPr>
          </a:p>
        </p:txBody>
      </p:sp>
      <p:sp>
        <p:nvSpPr>
          <p:cNvPr id="165" name="Google Shape;165;p21"/>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07</a:t>
            </a:r>
            <a:endParaRPr b="1" sz="1800">
              <a:solidFill>
                <a:srgbClr val="CC4125"/>
              </a:solidFill>
              <a:latin typeface="Helvetica Neue"/>
              <a:ea typeface="Helvetica Neue"/>
              <a:cs typeface="Helvetica Neue"/>
              <a:sym typeface="Helvetica Neue"/>
            </a:endParaRPr>
          </a:p>
        </p:txBody>
      </p:sp>
      <p:sp>
        <p:nvSpPr>
          <p:cNvPr id="166" name="Google Shape;166;p21"/>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IAN BARRIE</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DATA + MODELING</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pic>
        <p:nvPicPr>
          <p:cNvPr id="167" name="Google Shape;167;p21"/>
          <p:cNvPicPr preferRelativeResize="0"/>
          <p:nvPr/>
        </p:nvPicPr>
        <p:blipFill>
          <a:blip r:embed="rId4">
            <a:alphaModFix/>
          </a:blip>
          <a:stretch>
            <a:fillRect/>
          </a:stretch>
        </p:blipFill>
        <p:spPr>
          <a:xfrm>
            <a:off x="473450" y="1099775"/>
            <a:ext cx="8197104" cy="2526949"/>
          </a:xfrm>
          <a:prstGeom prst="rect">
            <a:avLst/>
          </a:prstGeom>
          <a:noFill/>
          <a:ln cap="flat" cmpd="sng" w="19050">
            <a:solidFill>
              <a:srgbClr val="A61C00"/>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73" name="Google Shape;173;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174" name="Google Shape;174;p22"/>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175" name="Google Shape;175;p22"/>
          <p:cNvSpPr txBox="1"/>
          <p:nvPr/>
        </p:nvSpPr>
        <p:spPr>
          <a:xfrm rot="-5400000">
            <a:off x="-2449948" y="987855"/>
            <a:ext cx="55491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800">
                <a:solidFill>
                  <a:srgbClr val="CC4125"/>
                </a:solidFill>
              </a:rPr>
              <a:t>DATA VISUAL</a:t>
            </a:r>
            <a:endParaRPr b="1" sz="4800">
              <a:solidFill>
                <a:srgbClr val="CC4125"/>
              </a:solidFill>
            </a:endParaRPr>
          </a:p>
        </p:txBody>
      </p:sp>
      <p:cxnSp>
        <p:nvCxnSpPr>
          <p:cNvPr id="176" name="Google Shape;176;p22"/>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177" name="Google Shape;177;p22"/>
          <p:cNvSpPr txBox="1"/>
          <p:nvPr/>
        </p:nvSpPr>
        <p:spPr>
          <a:xfrm>
            <a:off x="239880" y="3343600"/>
            <a:ext cx="72579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YIELD SIGNAL HEAT MAP AND COUNTY PREDICTION</a:t>
            </a:r>
            <a:endParaRPr sz="3000">
              <a:solidFill>
                <a:srgbClr val="FFFFFF"/>
              </a:solidFill>
              <a:latin typeface="Oswald"/>
              <a:ea typeface="Oswald"/>
              <a:cs typeface="Oswald"/>
              <a:sym typeface="Oswald"/>
            </a:endParaRPr>
          </a:p>
        </p:txBody>
      </p:sp>
      <p:sp>
        <p:nvSpPr>
          <p:cNvPr id="178" name="Google Shape;178;p22"/>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05</a:t>
            </a:r>
            <a:endParaRPr b="1" sz="1800">
              <a:solidFill>
                <a:srgbClr val="CC4125"/>
              </a:solidFill>
              <a:latin typeface="Helvetica Neue"/>
              <a:ea typeface="Helvetica Neue"/>
              <a:cs typeface="Helvetica Neue"/>
              <a:sym typeface="Helvetica Neue"/>
            </a:endParaRPr>
          </a:p>
        </p:txBody>
      </p:sp>
      <p:sp>
        <p:nvSpPr>
          <p:cNvPr id="179" name="Google Shape;179;p22"/>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IAN BARRIE</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DATA + MODELING</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pic>
        <p:nvPicPr>
          <p:cNvPr id="180" name="Google Shape;180;p22"/>
          <p:cNvPicPr preferRelativeResize="0"/>
          <p:nvPr/>
        </p:nvPicPr>
        <p:blipFill>
          <a:blip r:embed="rId4">
            <a:alphaModFix/>
          </a:blip>
          <a:stretch>
            <a:fillRect/>
          </a:stretch>
        </p:blipFill>
        <p:spPr>
          <a:xfrm>
            <a:off x="1044920" y="459640"/>
            <a:ext cx="2524215" cy="2820650"/>
          </a:xfrm>
          <a:prstGeom prst="rect">
            <a:avLst/>
          </a:prstGeom>
          <a:noFill/>
          <a:ln>
            <a:noFill/>
          </a:ln>
        </p:spPr>
      </p:pic>
      <p:pic>
        <p:nvPicPr>
          <p:cNvPr id="181" name="Google Shape;181;p22"/>
          <p:cNvPicPr preferRelativeResize="0"/>
          <p:nvPr/>
        </p:nvPicPr>
        <p:blipFill>
          <a:blip r:embed="rId5">
            <a:alphaModFix/>
          </a:blip>
          <a:stretch>
            <a:fillRect/>
          </a:stretch>
        </p:blipFill>
        <p:spPr>
          <a:xfrm>
            <a:off x="4128762" y="459650"/>
            <a:ext cx="4424564" cy="28206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87" name="Google Shape;187;p2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188" name="Google Shape;188;p23"/>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189" name="Google Shape;189;p23"/>
          <p:cNvSpPr txBox="1"/>
          <p:nvPr/>
        </p:nvSpPr>
        <p:spPr>
          <a:xfrm>
            <a:off x="-1865964" y="-630131"/>
            <a:ext cx="91968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200">
                <a:solidFill>
                  <a:srgbClr val="CC4125"/>
                </a:solidFill>
              </a:rPr>
              <a:t>DATA VISUAL</a:t>
            </a:r>
            <a:endParaRPr b="1" sz="6200">
              <a:solidFill>
                <a:srgbClr val="CC4125"/>
              </a:solidFill>
            </a:endParaRPr>
          </a:p>
        </p:txBody>
      </p:sp>
      <p:cxnSp>
        <p:nvCxnSpPr>
          <p:cNvPr id="190" name="Google Shape;190;p23"/>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191" name="Google Shape;191;p23"/>
          <p:cNvSpPr txBox="1"/>
          <p:nvPr/>
        </p:nvSpPr>
        <p:spPr>
          <a:xfrm>
            <a:off x="1205100" y="438525"/>
            <a:ext cx="79389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FFFFFF"/>
                </a:solidFill>
                <a:latin typeface="Oswald"/>
                <a:ea typeface="Oswald"/>
                <a:cs typeface="Oswald"/>
                <a:sym typeface="Oswald"/>
              </a:rPr>
              <a:t>FEATURE IMPORTANCE AND STATE PERFORMANCE</a:t>
            </a:r>
            <a:endParaRPr sz="3000">
              <a:solidFill>
                <a:srgbClr val="FFFFFF"/>
              </a:solidFill>
              <a:latin typeface="Oswald"/>
              <a:ea typeface="Oswald"/>
              <a:cs typeface="Oswald"/>
              <a:sym typeface="Oswald"/>
            </a:endParaRPr>
          </a:p>
        </p:txBody>
      </p:sp>
      <p:sp>
        <p:nvSpPr>
          <p:cNvPr id="192" name="Google Shape;192;p23"/>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07</a:t>
            </a:r>
            <a:endParaRPr b="1" sz="1800">
              <a:solidFill>
                <a:srgbClr val="CC4125"/>
              </a:solidFill>
              <a:latin typeface="Helvetica Neue"/>
              <a:ea typeface="Helvetica Neue"/>
              <a:cs typeface="Helvetica Neue"/>
              <a:sym typeface="Helvetica Neue"/>
            </a:endParaRPr>
          </a:p>
        </p:txBody>
      </p:sp>
      <p:sp>
        <p:nvSpPr>
          <p:cNvPr id="193" name="Google Shape;193;p23"/>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IAN BARRIE</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DATA + MODELING</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pic>
        <p:nvPicPr>
          <p:cNvPr id="194" name="Google Shape;194;p23"/>
          <p:cNvPicPr preferRelativeResize="0"/>
          <p:nvPr/>
        </p:nvPicPr>
        <p:blipFill rotWithShape="1">
          <a:blip r:embed="rId4">
            <a:alphaModFix/>
          </a:blip>
          <a:srcRect b="9891" l="0" r="0" t="9891"/>
          <a:stretch/>
        </p:blipFill>
        <p:spPr>
          <a:xfrm>
            <a:off x="473450" y="1099775"/>
            <a:ext cx="8197102" cy="2526950"/>
          </a:xfrm>
          <a:prstGeom prst="rect">
            <a:avLst/>
          </a:prstGeom>
          <a:noFill/>
          <a:ln cap="flat" cmpd="sng" w="19050">
            <a:solidFill>
              <a:srgbClr val="A61C00"/>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00" name="Google Shape;200;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201" name="Google Shape;201;p24"/>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202" name="Google Shape;202;p24"/>
          <p:cNvSpPr txBox="1"/>
          <p:nvPr/>
        </p:nvSpPr>
        <p:spPr>
          <a:xfrm rot="-5400000">
            <a:off x="-2449948" y="987855"/>
            <a:ext cx="55491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300">
                <a:solidFill>
                  <a:srgbClr val="CC4125"/>
                </a:solidFill>
              </a:rPr>
              <a:t>MODELING</a:t>
            </a:r>
            <a:endParaRPr b="1" sz="5300">
              <a:solidFill>
                <a:srgbClr val="CC4125"/>
              </a:solidFill>
            </a:endParaRPr>
          </a:p>
        </p:txBody>
      </p:sp>
      <p:cxnSp>
        <p:nvCxnSpPr>
          <p:cNvPr id="203" name="Google Shape;203;p24"/>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204" name="Google Shape;204;p24"/>
          <p:cNvSpPr txBox="1"/>
          <p:nvPr/>
        </p:nvSpPr>
        <p:spPr>
          <a:xfrm>
            <a:off x="-1014728" y="3426450"/>
            <a:ext cx="72579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MODEL DIAGRAM: PIPELINE ONE</a:t>
            </a:r>
            <a:endParaRPr sz="3000">
              <a:solidFill>
                <a:srgbClr val="FFFFFF"/>
              </a:solidFill>
              <a:latin typeface="Oswald"/>
              <a:ea typeface="Oswald"/>
              <a:cs typeface="Oswald"/>
              <a:sym typeface="Oswald"/>
            </a:endParaRPr>
          </a:p>
        </p:txBody>
      </p:sp>
      <p:sp>
        <p:nvSpPr>
          <p:cNvPr id="205" name="Google Shape;205;p24"/>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05</a:t>
            </a:r>
            <a:endParaRPr b="1" sz="1800">
              <a:solidFill>
                <a:srgbClr val="CC4125"/>
              </a:solidFill>
              <a:latin typeface="Helvetica Neue"/>
              <a:ea typeface="Helvetica Neue"/>
              <a:cs typeface="Helvetica Neue"/>
              <a:sym typeface="Helvetica Neue"/>
            </a:endParaRPr>
          </a:p>
        </p:txBody>
      </p:sp>
      <p:sp>
        <p:nvSpPr>
          <p:cNvPr id="206" name="Google Shape;206;p24"/>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IAN BARRIE</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DATA + MODELING</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pic>
        <p:nvPicPr>
          <p:cNvPr id="207" name="Google Shape;207;p24"/>
          <p:cNvPicPr preferRelativeResize="0"/>
          <p:nvPr/>
        </p:nvPicPr>
        <p:blipFill>
          <a:blip r:embed="rId4">
            <a:alphaModFix/>
          </a:blip>
          <a:stretch>
            <a:fillRect/>
          </a:stretch>
        </p:blipFill>
        <p:spPr>
          <a:xfrm>
            <a:off x="1903264" y="302138"/>
            <a:ext cx="5262447" cy="29374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sp>
        <p:nvSpPr>
          <p:cNvPr id="212" name="Google Shape;212;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13" name="Google Shape;213;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214" name="Google Shape;214;p25"/>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215" name="Google Shape;215;p25"/>
          <p:cNvSpPr txBox="1"/>
          <p:nvPr/>
        </p:nvSpPr>
        <p:spPr>
          <a:xfrm rot="-5400000">
            <a:off x="-2449948" y="987855"/>
            <a:ext cx="55491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300">
                <a:solidFill>
                  <a:srgbClr val="CC4125"/>
                </a:solidFill>
              </a:rPr>
              <a:t>MODELING</a:t>
            </a:r>
            <a:endParaRPr b="1" sz="5300">
              <a:solidFill>
                <a:srgbClr val="CC4125"/>
              </a:solidFill>
            </a:endParaRPr>
          </a:p>
        </p:txBody>
      </p:sp>
      <p:cxnSp>
        <p:nvCxnSpPr>
          <p:cNvPr id="216" name="Google Shape;216;p25"/>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217" name="Google Shape;217;p25"/>
          <p:cNvSpPr txBox="1"/>
          <p:nvPr/>
        </p:nvSpPr>
        <p:spPr>
          <a:xfrm>
            <a:off x="361973" y="2377377"/>
            <a:ext cx="26094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FFFFFF"/>
                </a:solidFill>
                <a:latin typeface="Oswald"/>
                <a:ea typeface="Oswald"/>
                <a:cs typeface="Oswald"/>
                <a:sym typeface="Oswald"/>
              </a:rPr>
              <a:t>MODEL DIAGRAM</a:t>
            </a:r>
            <a:r>
              <a:rPr lang="en" sz="3000">
                <a:solidFill>
                  <a:srgbClr val="FFFFFF"/>
                </a:solidFill>
                <a:latin typeface="Oswald"/>
                <a:ea typeface="Oswald"/>
                <a:cs typeface="Oswald"/>
                <a:sym typeface="Oswald"/>
              </a:rPr>
              <a:t>: PIPELINE TWO</a:t>
            </a:r>
            <a:endParaRPr sz="3000">
              <a:solidFill>
                <a:srgbClr val="FFFFFF"/>
              </a:solidFill>
              <a:latin typeface="Oswald"/>
              <a:ea typeface="Oswald"/>
              <a:cs typeface="Oswald"/>
              <a:sym typeface="Oswald"/>
            </a:endParaRPr>
          </a:p>
        </p:txBody>
      </p:sp>
      <p:sp>
        <p:nvSpPr>
          <p:cNvPr id="218" name="Google Shape;218;p25"/>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05</a:t>
            </a:r>
            <a:endParaRPr b="1" sz="1800">
              <a:solidFill>
                <a:srgbClr val="CC4125"/>
              </a:solidFill>
              <a:latin typeface="Helvetica Neue"/>
              <a:ea typeface="Helvetica Neue"/>
              <a:cs typeface="Helvetica Neue"/>
              <a:sym typeface="Helvetica Neue"/>
            </a:endParaRPr>
          </a:p>
        </p:txBody>
      </p:sp>
      <p:sp>
        <p:nvSpPr>
          <p:cNvPr id="219" name="Google Shape;219;p25"/>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ENGIN GEDIK</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DATA + MODELING</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pic>
        <p:nvPicPr>
          <p:cNvPr id="220" name="Google Shape;220;p25"/>
          <p:cNvPicPr preferRelativeResize="0"/>
          <p:nvPr/>
        </p:nvPicPr>
        <p:blipFill>
          <a:blip r:embed="rId4">
            <a:alphaModFix/>
          </a:blip>
          <a:stretch>
            <a:fillRect/>
          </a:stretch>
        </p:blipFill>
        <p:spPr>
          <a:xfrm>
            <a:off x="3056703" y="392328"/>
            <a:ext cx="4104976" cy="4515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 name="Shape 224"/>
        <p:cNvGrpSpPr/>
        <p:nvPr/>
      </p:nvGrpSpPr>
      <p:grpSpPr>
        <a:xfrm>
          <a:off x="0" y="0"/>
          <a:ext cx="0" cy="0"/>
          <a:chOff x="0" y="0"/>
          <a:chExt cx="0" cy="0"/>
        </a:xfrm>
      </p:grpSpPr>
      <p:sp>
        <p:nvSpPr>
          <p:cNvPr id="225" name="Google Shape;225;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26" name="Google Shape;226;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227" name="Google Shape;227;p26"/>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228" name="Google Shape;228;p26"/>
          <p:cNvSpPr txBox="1"/>
          <p:nvPr/>
        </p:nvSpPr>
        <p:spPr>
          <a:xfrm>
            <a:off x="-364575" y="-598475"/>
            <a:ext cx="55491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rgbClr val="CC4125"/>
                </a:solidFill>
              </a:rPr>
              <a:t>RESULTS</a:t>
            </a:r>
            <a:endParaRPr b="1" sz="7200">
              <a:solidFill>
                <a:srgbClr val="CC4125"/>
              </a:solidFill>
            </a:endParaRPr>
          </a:p>
        </p:txBody>
      </p:sp>
      <p:cxnSp>
        <p:nvCxnSpPr>
          <p:cNvPr id="229" name="Google Shape;229;p26"/>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230" name="Google Shape;230;p26"/>
          <p:cNvSpPr txBox="1"/>
          <p:nvPr/>
        </p:nvSpPr>
        <p:spPr>
          <a:xfrm>
            <a:off x="2136500" y="438500"/>
            <a:ext cx="64167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OUR 2025 CORN YIELD DATA PREDICTION</a:t>
            </a:r>
            <a:endParaRPr sz="3000">
              <a:solidFill>
                <a:srgbClr val="FFFFFF"/>
              </a:solidFill>
              <a:latin typeface="Oswald"/>
              <a:ea typeface="Oswald"/>
              <a:cs typeface="Oswald"/>
              <a:sym typeface="Oswald"/>
            </a:endParaRPr>
          </a:p>
        </p:txBody>
      </p:sp>
      <p:sp>
        <p:nvSpPr>
          <p:cNvPr id="231" name="Google Shape;231;p26"/>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07</a:t>
            </a:r>
            <a:endParaRPr b="1" sz="1800">
              <a:solidFill>
                <a:srgbClr val="CC4125"/>
              </a:solidFill>
              <a:latin typeface="Helvetica Neue"/>
              <a:ea typeface="Helvetica Neue"/>
              <a:cs typeface="Helvetica Neue"/>
              <a:sym typeface="Helvetica Neue"/>
            </a:endParaRPr>
          </a:p>
        </p:txBody>
      </p:sp>
      <p:sp>
        <p:nvSpPr>
          <p:cNvPr id="232" name="Google Shape;232;p26"/>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RESULTS</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
        <p:nvSpPr>
          <p:cNvPr id="233" name="Google Shape;233;p26"/>
          <p:cNvSpPr txBox="1"/>
          <p:nvPr/>
        </p:nvSpPr>
        <p:spPr>
          <a:xfrm>
            <a:off x="2232975" y="1231105"/>
            <a:ext cx="1691400" cy="652500"/>
          </a:xfrm>
          <a:prstGeom prst="rect">
            <a:avLst/>
          </a:prstGeom>
          <a:noFill/>
          <a:ln>
            <a:noFill/>
          </a:ln>
        </p:spPr>
        <p:txBody>
          <a:bodyPr anchorCtr="0" anchor="ctr" bIns="91425" lIns="91425" spcFirstLastPara="1" rIns="91425" wrap="square" tIns="91425">
            <a:noAutofit/>
          </a:bodyPr>
          <a:lstStyle/>
          <a:p>
            <a:pPr indent="0" lvl="0" marL="457200" rtl="0" algn="l">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AUG 1</a:t>
            </a:r>
            <a:endParaRPr sz="1800">
              <a:solidFill>
                <a:srgbClr val="CC4125"/>
              </a:solidFill>
              <a:latin typeface="Helvetica Neue"/>
              <a:ea typeface="Helvetica Neue"/>
              <a:cs typeface="Helvetica Neue"/>
              <a:sym typeface="Helvetica Neue"/>
            </a:endParaRPr>
          </a:p>
        </p:txBody>
      </p:sp>
      <p:sp>
        <p:nvSpPr>
          <p:cNvPr id="234" name="Google Shape;234;p26"/>
          <p:cNvSpPr txBox="1"/>
          <p:nvPr/>
        </p:nvSpPr>
        <p:spPr>
          <a:xfrm>
            <a:off x="-480105" y="1731863"/>
            <a:ext cx="2616600" cy="601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a:solidFill>
                  <a:srgbClr val="A61C00"/>
                </a:solidFill>
                <a:latin typeface="Helvetica Neue"/>
                <a:ea typeface="Helvetica Neue"/>
                <a:cs typeface="Helvetica Neue"/>
                <a:sym typeface="Helvetica Neue"/>
              </a:rPr>
              <a:t>COLORADO</a:t>
            </a:r>
            <a:endParaRPr b="1">
              <a:solidFill>
                <a:srgbClr val="A61C00"/>
              </a:solidFill>
              <a:latin typeface="Helvetica Neue"/>
              <a:ea typeface="Helvetica Neue"/>
              <a:cs typeface="Helvetica Neue"/>
              <a:sym typeface="Helvetica Neue"/>
            </a:endParaRPr>
          </a:p>
          <a:p>
            <a:pPr indent="0" lvl="0" marL="0" rtl="0" algn="r">
              <a:spcBef>
                <a:spcPts val="0"/>
              </a:spcBef>
              <a:spcAft>
                <a:spcPts val="0"/>
              </a:spcAft>
              <a:buNone/>
            </a:pPr>
            <a:r>
              <a:t/>
            </a:r>
            <a:endParaRPr b="1">
              <a:solidFill>
                <a:srgbClr val="A61C00"/>
              </a:solidFill>
              <a:latin typeface="Helvetica Neue"/>
              <a:ea typeface="Helvetica Neue"/>
              <a:cs typeface="Helvetica Neue"/>
              <a:sym typeface="Helvetica Neue"/>
            </a:endParaRPr>
          </a:p>
          <a:p>
            <a:pPr indent="0" lvl="0" marL="0" rtl="0" algn="r">
              <a:spcBef>
                <a:spcPts val="0"/>
              </a:spcBef>
              <a:spcAft>
                <a:spcPts val="0"/>
              </a:spcAft>
              <a:buNone/>
            </a:pPr>
            <a:r>
              <a:rPr b="1" lang="en">
                <a:solidFill>
                  <a:srgbClr val="A61C00"/>
                </a:solidFill>
                <a:latin typeface="Helvetica Neue"/>
                <a:ea typeface="Helvetica Neue"/>
                <a:cs typeface="Helvetica Neue"/>
                <a:sym typeface="Helvetica Neue"/>
              </a:rPr>
              <a:t>IOWA</a:t>
            </a:r>
            <a:endParaRPr b="1">
              <a:solidFill>
                <a:srgbClr val="A61C00"/>
              </a:solidFill>
              <a:latin typeface="Helvetica Neue"/>
              <a:ea typeface="Helvetica Neue"/>
              <a:cs typeface="Helvetica Neue"/>
              <a:sym typeface="Helvetica Neue"/>
            </a:endParaRPr>
          </a:p>
          <a:p>
            <a:pPr indent="0" lvl="0" marL="0" rtl="0" algn="r">
              <a:spcBef>
                <a:spcPts val="0"/>
              </a:spcBef>
              <a:spcAft>
                <a:spcPts val="0"/>
              </a:spcAft>
              <a:buNone/>
            </a:pPr>
            <a:r>
              <a:t/>
            </a:r>
            <a:endParaRPr b="1">
              <a:solidFill>
                <a:srgbClr val="A61C00"/>
              </a:solidFill>
              <a:latin typeface="Helvetica Neue"/>
              <a:ea typeface="Helvetica Neue"/>
              <a:cs typeface="Helvetica Neue"/>
              <a:sym typeface="Helvetica Neue"/>
            </a:endParaRPr>
          </a:p>
          <a:p>
            <a:pPr indent="0" lvl="0" marL="0" rtl="0" algn="r">
              <a:spcBef>
                <a:spcPts val="0"/>
              </a:spcBef>
              <a:spcAft>
                <a:spcPts val="0"/>
              </a:spcAft>
              <a:buNone/>
            </a:pPr>
            <a:r>
              <a:rPr b="1" lang="en">
                <a:solidFill>
                  <a:srgbClr val="A61C00"/>
                </a:solidFill>
                <a:latin typeface="Helvetica Neue"/>
                <a:ea typeface="Helvetica Neue"/>
                <a:cs typeface="Helvetica Neue"/>
                <a:sym typeface="Helvetica Neue"/>
              </a:rPr>
              <a:t>MISSOURI</a:t>
            </a:r>
            <a:endParaRPr b="1">
              <a:solidFill>
                <a:srgbClr val="A61C00"/>
              </a:solidFill>
              <a:latin typeface="Helvetica Neue"/>
              <a:ea typeface="Helvetica Neue"/>
              <a:cs typeface="Helvetica Neue"/>
              <a:sym typeface="Helvetica Neue"/>
            </a:endParaRPr>
          </a:p>
          <a:p>
            <a:pPr indent="0" lvl="0" marL="0" rtl="0" algn="r">
              <a:spcBef>
                <a:spcPts val="0"/>
              </a:spcBef>
              <a:spcAft>
                <a:spcPts val="0"/>
              </a:spcAft>
              <a:buNone/>
            </a:pPr>
            <a:r>
              <a:t/>
            </a:r>
            <a:endParaRPr b="1">
              <a:solidFill>
                <a:srgbClr val="A61C00"/>
              </a:solidFill>
              <a:latin typeface="Helvetica Neue"/>
              <a:ea typeface="Helvetica Neue"/>
              <a:cs typeface="Helvetica Neue"/>
              <a:sym typeface="Helvetica Neue"/>
            </a:endParaRPr>
          </a:p>
          <a:p>
            <a:pPr indent="0" lvl="0" marL="0" rtl="0" algn="r">
              <a:spcBef>
                <a:spcPts val="0"/>
              </a:spcBef>
              <a:spcAft>
                <a:spcPts val="0"/>
              </a:spcAft>
              <a:buNone/>
            </a:pPr>
            <a:r>
              <a:rPr b="1" lang="en">
                <a:solidFill>
                  <a:srgbClr val="A61C00"/>
                </a:solidFill>
                <a:latin typeface="Helvetica Neue"/>
                <a:ea typeface="Helvetica Neue"/>
                <a:cs typeface="Helvetica Neue"/>
                <a:sym typeface="Helvetica Neue"/>
              </a:rPr>
              <a:t>NEBRASKA</a:t>
            </a:r>
            <a:endParaRPr b="1">
              <a:solidFill>
                <a:srgbClr val="A61C00"/>
              </a:solidFill>
              <a:latin typeface="Helvetica Neue"/>
              <a:ea typeface="Helvetica Neue"/>
              <a:cs typeface="Helvetica Neue"/>
              <a:sym typeface="Helvetica Neue"/>
            </a:endParaRPr>
          </a:p>
          <a:p>
            <a:pPr indent="0" lvl="0" marL="0" rtl="0" algn="r">
              <a:spcBef>
                <a:spcPts val="0"/>
              </a:spcBef>
              <a:spcAft>
                <a:spcPts val="0"/>
              </a:spcAft>
              <a:buNone/>
            </a:pPr>
            <a:r>
              <a:t/>
            </a:r>
            <a:endParaRPr b="1">
              <a:solidFill>
                <a:srgbClr val="A61C00"/>
              </a:solidFill>
              <a:latin typeface="Helvetica Neue"/>
              <a:ea typeface="Helvetica Neue"/>
              <a:cs typeface="Helvetica Neue"/>
              <a:sym typeface="Helvetica Neue"/>
            </a:endParaRPr>
          </a:p>
          <a:p>
            <a:pPr indent="0" lvl="0" marL="0" rtl="0" algn="r">
              <a:spcBef>
                <a:spcPts val="0"/>
              </a:spcBef>
              <a:spcAft>
                <a:spcPts val="0"/>
              </a:spcAft>
              <a:buNone/>
            </a:pPr>
            <a:r>
              <a:rPr b="1" lang="en">
                <a:solidFill>
                  <a:srgbClr val="A61C00"/>
                </a:solidFill>
                <a:latin typeface="Helvetica Neue"/>
                <a:ea typeface="Helvetica Neue"/>
                <a:cs typeface="Helvetica Neue"/>
                <a:sym typeface="Helvetica Neue"/>
              </a:rPr>
              <a:t>WISCONSIN</a:t>
            </a:r>
            <a:endParaRPr b="1">
              <a:solidFill>
                <a:srgbClr val="A61C00"/>
              </a:solidFill>
              <a:latin typeface="Helvetica Neue"/>
              <a:ea typeface="Helvetica Neue"/>
              <a:cs typeface="Helvetica Neue"/>
              <a:sym typeface="Helvetica Neue"/>
            </a:endParaRPr>
          </a:p>
        </p:txBody>
      </p:sp>
      <p:sp>
        <p:nvSpPr>
          <p:cNvPr id="235" name="Google Shape;235;p26"/>
          <p:cNvSpPr txBox="1"/>
          <p:nvPr/>
        </p:nvSpPr>
        <p:spPr>
          <a:xfrm>
            <a:off x="3877455" y="1231091"/>
            <a:ext cx="1691400" cy="652500"/>
          </a:xfrm>
          <a:prstGeom prst="rect">
            <a:avLst/>
          </a:prstGeom>
          <a:noFill/>
          <a:ln>
            <a:noFill/>
          </a:ln>
        </p:spPr>
        <p:txBody>
          <a:bodyPr anchorCtr="0" anchor="ctr" bIns="91425" lIns="91425" spcFirstLastPara="1" rIns="91425" wrap="square" tIns="91425">
            <a:noAutofit/>
          </a:bodyPr>
          <a:lstStyle/>
          <a:p>
            <a:pPr indent="0" lvl="0" marL="457200" rtl="0" algn="l">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SEP</a:t>
            </a:r>
            <a:r>
              <a:rPr b="1" lang="en" sz="1800">
                <a:solidFill>
                  <a:srgbClr val="CC4125"/>
                </a:solidFill>
                <a:latin typeface="Helvetica Neue"/>
                <a:ea typeface="Helvetica Neue"/>
                <a:cs typeface="Helvetica Neue"/>
                <a:sym typeface="Helvetica Neue"/>
              </a:rPr>
              <a:t> 1</a:t>
            </a:r>
            <a:endParaRPr sz="1800">
              <a:solidFill>
                <a:srgbClr val="CC4125"/>
              </a:solidFill>
              <a:latin typeface="Helvetica Neue"/>
              <a:ea typeface="Helvetica Neue"/>
              <a:cs typeface="Helvetica Neue"/>
              <a:sym typeface="Helvetica Neue"/>
            </a:endParaRPr>
          </a:p>
        </p:txBody>
      </p:sp>
      <p:sp>
        <p:nvSpPr>
          <p:cNvPr id="236" name="Google Shape;236;p26"/>
          <p:cNvSpPr txBox="1"/>
          <p:nvPr/>
        </p:nvSpPr>
        <p:spPr>
          <a:xfrm>
            <a:off x="5535430" y="1231091"/>
            <a:ext cx="1691400" cy="652500"/>
          </a:xfrm>
          <a:prstGeom prst="rect">
            <a:avLst/>
          </a:prstGeom>
          <a:noFill/>
          <a:ln>
            <a:noFill/>
          </a:ln>
        </p:spPr>
        <p:txBody>
          <a:bodyPr anchorCtr="0" anchor="ctr" bIns="91425" lIns="91425" spcFirstLastPara="1" rIns="91425" wrap="square" tIns="91425">
            <a:noAutofit/>
          </a:bodyPr>
          <a:lstStyle/>
          <a:p>
            <a:pPr indent="0" lvl="0" marL="457200" rtl="0" algn="l">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OCT</a:t>
            </a:r>
            <a:r>
              <a:rPr b="1" lang="en" sz="1800">
                <a:solidFill>
                  <a:srgbClr val="CC4125"/>
                </a:solidFill>
                <a:latin typeface="Helvetica Neue"/>
                <a:ea typeface="Helvetica Neue"/>
                <a:cs typeface="Helvetica Neue"/>
                <a:sym typeface="Helvetica Neue"/>
              </a:rPr>
              <a:t> 1</a:t>
            </a:r>
            <a:endParaRPr sz="1800">
              <a:solidFill>
                <a:srgbClr val="CC4125"/>
              </a:solidFill>
              <a:latin typeface="Helvetica Neue"/>
              <a:ea typeface="Helvetica Neue"/>
              <a:cs typeface="Helvetica Neue"/>
              <a:sym typeface="Helvetica Neue"/>
            </a:endParaRPr>
          </a:p>
        </p:txBody>
      </p:sp>
      <p:sp>
        <p:nvSpPr>
          <p:cNvPr id="237" name="Google Shape;237;p26"/>
          <p:cNvSpPr txBox="1"/>
          <p:nvPr/>
        </p:nvSpPr>
        <p:spPr>
          <a:xfrm>
            <a:off x="7309813" y="1231089"/>
            <a:ext cx="1691400" cy="652500"/>
          </a:xfrm>
          <a:prstGeom prst="rect">
            <a:avLst/>
          </a:prstGeom>
          <a:noFill/>
          <a:ln>
            <a:noFill/>
          </a:ln>
        </p:spPr>
        <p:txBody>
          <a:bodyPr anchorCtr="0" anchor="ctr" bIns="91425" lIns="91425" spcFirstLastPara="1" rIns="91425" wrap="square" tIns="91425">
            <a:noAutofit/>
          </a:bodyPr>
          <a:lstStyle/>
          <a:p>
            <a:pPr indent="0" lvl="0" marL="457200" rtl="0" algn="l">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EOS</a:t>
            </a:r>
            <a:endParaRPr sz="1800">
              <a:solidFill>
                <a:srgbClr val="CC4125"/>
              </a:solidFill>
              <a:latin typeface="Helvetica Neue"/>
              <a:ea typeface="Helvetica Neue"/>
              <a:cs typeface="Helvetica Neue"/>
              <a:sym typeface="Helvetica Neue"/>
            </a:endParaRPr>
          </a:p>
        </p:txBody>
      </p:sp>
      <p:sp>
        <p:nvSpPr>
          <p:cNvPr id="238" name="Google Shape;238;p26"/>
          <p:cNvSpPr txBox="1"/>
          <p:nvPr/>
        </p:nvSpPr>
        <p:spPr>
          <a:xfrm>
            <a:off x="3414864" y="1731855"/>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140.3</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39" name="Google Shape;239;p26"/>
          <p:cNvSpPr txBox="1"/>
          <p:nvPr/>
        </p:nvSpPr>
        <p:spPr>
          <a:xfrm>
            <a:off x="1770372" y="1731863"/>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128.8</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0" name="Google Shape;240;p26"/>
          <p:cNvSpPr txBox="1"/>
          <p:nvPr/>
        </p:nvSpPr>
        <p:spPr>
          <a:xfrm>
            <a:off x="5072837" y="1731870"/>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134.6</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1" name="Google Shape;241;p26"/>
          <p:cNvSpPr txBox="1"/>
          <p:nvPr/>
        </p:nvSpPr>
        <p:spPr>
          <a:xfrm>
            <a:off x="6765205" y="1731845"/>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133.9</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2" name="Google Shape;242;p26"/>
          <p:cNvSpPr txBox="1"/>
          <p:nvPr/>
        </p:nvSpPr>
        <p:spPr>
          <a:xfrm>
            <a:off x="1770385" y="2143480"/>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193.0</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3" name="Google Shape;243;p26"/>
          <p:cNvSpPr txBox="1"/>
          <p:nvPr/>
        </p:nvSpPr>
        <p:spPr>
          <a:xfrm>
            <a:off x="3414860" y="2143480"/>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196.5</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4" name="Google Shape;244;p26"/>
          <p:cNvSpPr txBox="1"/>
          <p:nvPr/>
        </p:nvSpPr>
        <p:spPr>
          <a:xfrm>
            <a:off x="5072835" y="2143480"/>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196.7</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5" name="Google Shape;245;p26"/>
          <p:cNvSpPr txBox="1"/>
          <p:nvPr/>
        </p:nvSpPr>
        <p:spPr>
          <a:xfrm>
            <a:off x="6765210" y="2143480"/>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200.6</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6" name="Google Shape;246;p26"/>
          <p:cNvSpPr txBox="1"/>
          <p:nvPr/>
        </p:nvSpPr>
        <p:spPr>
          <a:xfrm>
            <a:off x="1770387" y="2571742"/>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157.9</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7" name="Google Shape;247;p26"/>
          <p:cNvSpPr txBox="1"/>
          <p:nvPr/>
        </p:nvSpPr>
        <p:spPr>
          <a:xfrm>
            <a:off x="3414864" y="2571742"/>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158.4</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8" name="Google Shape;248;p26"/>
          <p:cNvSpPr txBox="1"/>
          <p:nvPr/>
        </p:nvSpPr>
        <p:spPr>
          <a:xfrm>
            <a:off x="5072836" y="2571742"/>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159.3</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49" name="Google Shape;249;p26"/>
          <p:cNvSpPr txBox="1"/>
          <p:nvPr/>
        </p:nvSpPr>
        <p:spPr>
          <a:xfrm>
            <a:off x="6765212" y="2571742"/>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155.8</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50" name="Google Shape;250;p26"/>
          <p:cNvSpPr txBox="1"/>
          <p:nvPr/>
        </p:nvSpPr>
        <p:spPr>
          <a:xfrm>
            <a:off x="1770387" y="2970065"/>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180.0</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51" name="Google Shape;251;p26"/>
          <p:cNvSpPr txBox="1"/>
          <p:nvPr/>
        </p:nvSpPr>
        <p:spPr>
          <a:xfrm>
            <a:off x="3414862" y="2970067"/>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180.7</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52" name="Google Shape;252;p26"/>
          <p:cNvSpPr txBox="1"/>
          <p:nvPr/>
        </p:nvSpPr>
        <p:spPr>
          <a:xfrm>
            <a:off x="5072837" y="2970067"/>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181.9</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53" name="Google Shape;253;p26"/>
          <p:cNvSpPr txBox="1"/>
          <p:nvPr/>
        </p:nvSpPr>
        <p:spPr>
          <a:xfrm>
            <a:off x="6765212" y="2970067"/>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182.0</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54" name="Google Shape;254;p26"/>
          <p:cNvSpPr txBox="1"/>
          <p:nvPr/>
        </p:nvSpPr>
        <p:spPr>
          <a:xfrm>
            <a:off x="1770387" y="3411628"/>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170.5</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55" name="Google Shape;255;p26"/>
          <p:cNvSpPr txBox="1"/>
          <p:nvPr/>
        </p:nvSpPr>
        <p:spPr>
          <a:xfrm>
            <a:off x="3414862" y="3411615"/>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176.2</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56" name="Google Shape;256;p26"/>
          <p:cNvSpPr txBox="1"/>
          <p:nvPr/>
        </p:nvSpPr>
        <p:spPr>
          <a:xfrm>
            <a:off x="5072837" y="3411628"/>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179.8</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
        <p:nvSpPr>
          <p:cNvPr id="257" name="Google Shape;257;p26"/>
          <p:cNvSpPr txBox="1"/>
          <p:nvPr/>
        </p:nvSpPr>
        <p:spPr>
          <a:xfrm>
            <a:off x="6765212" y="3390903"/>
            <a:ext cx="2616600" cy="6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179.8</a:t>
            </a:r>
            <a:r>
              <a:rPr lang="en">
                <a:solidFill>
                  <a:schemeClr val="dk1"/>
                </a:solidFill>
                <a:latin typeface="Helvetica Neue Light"/>
                <a:ea typeface="Helvetica Neue Light"/>
                <a:cs typeface="Helvetica Neue Light"/>
                <a:sym typeface="Helvetica Neue Light"/>
              </a:rPr>
              <a:t> BU/AC</a:t>
            </a:r>
            <a:endParaRPr>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1" name="Shape 261"/>
        <p:cNvGrpSpPr/>
        <p:nvPr/>
      </p:nvGrpSpPr>
      <p:grpSpPr>
        <a:xfrm>
          <a:off x="0" y="0"/>
          <a:ext cx="0" cy="0"/>
          <a:chOff x="0" y="0"/>
          <a:chExt cx="0" cy="0"/>
        </a:xfrm>
      </p:grpSpPr>
      <p:sp>
        <p:nvSpPr>
          <p:cNvPr id="262" name="Google Shape;262;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63" name="Google Shape;263;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264" name="Google Shape;264;p27"/>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265" name="Google Shape;265;p27"/>
          <p:cNvSpPr txBox="1"/>
          <p:nvPr/>
        </p:nvSpPr>
        <p:spPr>
          <a:xfrm>
            <a:off x="885600" y="1299000"/>
            <a:ext cx="73728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rgbClr val="CC4125"/>
                </a:solidFill>
              </a:rPr>
              <a:t>CHALLENGES</a:t>
            </a:r>
            <a:endParaRPr b="1" sz="7200">
              <a:solidFill>
                <a:srgbClr val="CC4125"/>
              </a:solidFill>
            </a:endParaRPr>
          </a:p>
        </p:txBody>
      </p:sp>
      <p:cxnSp>
        <p:nvCxnSpPr>
          <p:cNvPr id="266" name="Google Shape;266;p27"/>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267" name="Google Shape;267;p27"/>
          <p:cNvSpPr txBox="1"/>
          <p:nvPr/>
        </p:nvSpPr>
        <p:spPr>
          <a:xfrm>
            <a:off x="885600" y="2333575"/>
            <a:ext cx="73728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OBSTACLES DURING THE PROJECT</a:t>
            </a:r>
            <a:endParaRPr sz="3000">
              <a:solidFill>
                <a:srgbClr val="FFFFFF"/>
              </a:solidFill>
              <a:latin typeface="Oswald"/>
              <a:ea typeface="Oswald"/>
              <a:cs typeface="Oswald"/>
              <a:sym typeface="Oswald"/>
            </a:endParaRPr>
          </a:p>
        </p:txBody>
      </p:sp>
      <p:sp>
        <p:nvSpPr>
          <p:cNvPr id="268" name="Google Shape;268;p27"/>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08</a:t>
            </a:r>
            <a:endParaRPr b="1" sz="1800">
              <a:solidFill>
                <a:srgbClr val="CC4125"/>
              </a:solidFill>
              <a:latin typeface="Helvetica Neue"/>
              <a:ea typeface="Helvetica Neue"/>
              <a:cs typeface="Helvetica Neue"/>
              <a:sym typeface="Helvetica Neue"/>
            </a:endParaRPr>
          </a:p>
        </p:txBody>
      </p:sp>
      <p:sp>
        <p:nvSpPr>
          <p:cNvPr id="269" name="Google Shape;269;p27"/>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RAGHAV AGARWAL</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CHALLENGES</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75" name="Google Shape;275;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276" name="Google Shape;276;p28"/>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277" name="Google Shape;277;p28"/>
          <p:cNvSpPr txBox="1"/>
          <p:nvPr/>
        </p:nvSpPr>
        <p:spPr>
          <a:xfrm>
            <a:off x="-942237" y="2481295"/>
            <a:ext cx="72363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solidFill>
                  <a:srgbClr val="CC4125"/>
                </a:solidFill>
              </a:rPr>
              <a:t>CHALLENGES</a:t>
            </a:r>
            <a:endParaRPr b="1" sz="6000">
              <a:solidFill>
                <a:srgbClr val="CC4125"/>
              </a:solidFill>
            </a:endParaRPr>
          </a:p>
        </p:txBody>
      </p:sp>
      <p:cxnSp>
        <p:nvCxnSpPr>
          <p:cNvPr id="278" name="Google Shape;278;p28"/>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279" name="Google Shape;279;p28"/>
          <p:cNvSpPr txBox="1"/>
          <p:nvPr/>
        </p:nvSpPr>
        <p:spPr>
          <a:xfrm>
            <a:off x="1075508" y="2834129"/>
            <a:ext cx="66102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DURING DEVELOPMENT</a:t>
            </a:r>
            <a:endParaRPr sz="3000">
              <a:solidFill>
                <a:srgbClr val="FFFFFF"/>
              </a:solidFill>
              <a:latin typeface="Oswald"/>
              <a:ea typeface="Oswald"/>
              <a:cs typeface="Oswald"/>
              <a:sym typeface="Oswald"/>
            </a:endParaRPr>
          </a:p>
        </p:txBody>
      </p:sp>
      <p:sp>
        <p:nvSpPr>
          <p:cNvPr id="280" name="Google Shape;280;p28"/>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09</a:t>
            </a:r>
            <a:endParaRPr b="1" sz="1800">
              <a:solidFill>
                <a:srgbClr val="CC4125"/>
              </a:solidFill>
              <a:latin typeface="Helvetica Neue"/>
              <a:ea typeface="Helvetica Neue"/>
              <a:cs typeface="Helvetica Neue"/>
              <a:sym typeface="Helvetica Neue"/>
            </a:endParaRPr>
          </a:p>
        </p:txBody>
      </p:sp>
      <p:sp>
        <p:nvSpPr>
          <p:cNvPr id="281" name="Google Shape;281;p28"/>
          <p:cNvSpPr txBox="1"/>
          <p:nvPr/>
        </p:nvSpPr>
        <p:spPr>
          <a:xfrm>
            <a:off x="174625" y="4131678"/>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RAGHAV AGARWAL</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rPr lang="en">
                <a:solidFill>
                  <a:srgbClr val="CC4125"/>
                </a:solidFill>
                <a:latin typeface="Helvetica Neue Light"/>
                <a:ea typeface="Helvetica Neue Light"/>
                <a:cs typeface="Helvetica Neue Light"/>
                <a:sym typeface="Helvetica Neue Light"/>
              </a:rPr>
              <a:t>CHALLENGES</a:t>
            </a:r>
            <a:endParaRPr>
              <a:solidFill>
                <a:srgbClr val="CC4125"/>
              </a:solidFill>
              <a:latin typeface="Helvetica Neue Light"/>
              <a:ea typeface="Helvetica Neue Light"/>
              <a:cs typeface="Helvetica Neue Light"/>
              <a:sym typeface="Helvetica Neue Light"/>
            </a:endParaRPr>
          </a:p>
        </p:txBody>
      </p:sp>
      <p:sp>
        <p:nvSpPr>
          <p:cNvPr id="282" name="Google Shape;282;p28"/>
          <p:cNvSpPr txBox="1"/>
          <p:nvPr/>
        </p:nvSpPr>
        <p:spPr>
          <a:xfrm>
            <a:off x="1075500" y="744575"/>
            <a:ext cx="6993000" cy="652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Helvetica Neue Light"/>
              <a:buChar char="●"/>
            </a:pPr>
            <a:r>
              <a:rPr lang="en">
                <a:solidFill>
                  <a:schemeClr val="dk1"/>
                </a:solidFill>
                <a:latin typeface="Helvetica Neue Light"/>
                <a:ea typeface="Helvetica Neue Light"/>
                <a:cs typeface="Helvetica Neue Light"/>
                <a:sym typeface="Helvetica Neue Light"/>
              </a:rPr>
              <a:t>DATA ORGANIZATION COLLECTION.</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1"/>
              </a:buClr>
              <a:buSzPts val="1400"/>
              <a:buFont typeface="Helvetica Neue Light"/>
              <a:buChar char="●"/>
            </a:pPr>
            <a:r>
              <a:rPr lang="en">
                <a:solidFill>
                  <a:schemeClr val="dk1"/>
                </a:solidFill>
                <a:latin typeface="Helvetica Neue Light"/>
                <a:ea typeface="Helvetica Neue Light"/>
                <a:cs typeface="Helvetica Neue Light"/>
                <a:sym typeface="Helvetica Neue Light"/>
              </a:rPr>
              <a:t>HARDWARE LIMITATIONS.</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1"/>
              </a:buClr>
              <a:buSzPts val="1400"/>
              <a:buFont typeface="Helvetica Neue Light"/>
              <a:buChar char="●"/>
            </a:pPr>
            <a:r>
              <a:rPr lang="en">
                <a:solidFill>
                  <a:schemeClr val="dk1"/>
                </a:solidFill>
                <a:latin typeface="Helvetica Neue Light"/>
                <a:ea typeface="Helvetica Neue Light"/>
                <a:cs typeface="Helvetica Neue Light"/>
                <a:sym typeface="Helvetica Neue Light"/>
              </a:rPr>
              <a:t>UNFAMILIARITY WITH THE DATA BEING HANDLED.</a:t>
            </a:r>
            <a:endParaRPr>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1"/>
              </a:buClr>
              <a:buSzPts val="1400"/>
              <a:buFont typeface="Helvetica Neue Light"/>
              <a:buChar char="●"/>
            </a:pPr>
            <a:r>
              <a:rPr lang="en">
                <a:solidFill>
                  <a:schemeClr val="dk1"/>
                </a:solidFill>
                <a:latin typeface="Helvetica Neue Light"/>
                <a:ea typeface="Helvetica Neue Light"/>
                <a:cs typeface="Helvetica Neue Light"/>
                <a:sym typeface="Helvetica Neue Light"/>
              </a:rPr>
              <a:t>LEARNING EXPERIENCE WITH AWS ENVIRONMENT</a:t>
            </a:r>
            <a:endParaRPr>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6" name="Shape 286"/>
        <p:cNvGrpSpPr/>
        <p:nvPr/>
      </p:nvGrpSpPr>
      <p:grpSpPr>
        <a:xfrm>
          <a:off x="0" y="0"/>
          <a:ext cx="0" cy="0"/>
          <a:chOff x="0" y="0"/>
          <a:chExt cx="0" cy="0"/>
        </a:xfrm>
      </p:grpSpPr>
      <p:sp>
        <p:nvSpPr>
          <p:cNvPr id="287" name="Google Shape;287;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88" name="Google Shape;288;p2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289" name="Google Shape;289;p29"/>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290" name="Google Shape;290;p29"/>
          <p:cNvSpPr txBox="1"/>
          <p:nvPr/>
        </p:nvSpPr>
        <p:spPr>
          <a:xfrm>
            <a:off x="-667566" y="-589430"/>
            <a:ext cx="74400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rgbClr val="CC4125"/>
                </a:solidFill>
              </a:rPr>
              <a:t>NEXT STEPS</a:t>
            </a:r>
            <a:endParaRPr b="1" sz="7200">
              <a:solidFill>
                <a:srgbClr val="CC4125"/>
              </a:solidFill>
            </a:endParaRPr>
          </a:p>
        </p:txBody>
      </p:sp>
      <p:cxnSp>
        <p:nvCxnSpPr>
          <p:cNvPr id="291" name="Google Shape;291;p29"/>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292" name="Google Shape;292;p29"/>
          <p:cNvSpPr txBox="1"/>
          <p:nvPr/>
        </p:nvSpPr>
        <p:spPr>
          <a:xfrm>
            <a:off x="2335479" y="503229"/>
            <a:ext cx="33057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ANY CHANGES?</a:t>
            </a:r>
            <a:endParaRPr sz="3000">
              <a:solidFill>
                <a:srgbClr val="FFFFFF"/>
              </a:solidFill>
              <a:latin typeface="Oswald"/>
              <a:ea typeface="Oswald"/>
              <a:cs typeface="Oswald"/>
              <a:sym typeface="Oswald"/>
            </a:endParaRPr>
          </a:p>
        </p:txBody>
      </p:sp>
      <p:sp>
        <p:nvSpPr>
          <p:cNvPr id="293" name="Google Shape;293;p29"/>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07</a:t>
            </a:r>
            <a:endParaRPr b="1" sz="1800">
              <a:solidFill>
                <a:srgbClr val="CC4125"/>
              </a:solidFill>
              <a:latin typeface="Helvetica Neue"/>
              <a:ea typeface="Helvetica Neue"/>
              <a:cs typeface="Helvetica Neue"/>
              <a:sym typeface="Helvetica Neue"/>
            </a:endParaRPr>
          </a:p>
        </p:txBody>
      </p:sp>
      <p:sp>
        <p:nvSpPr>
          <p:cNvPr id="294" name="Google Shape;294;p29"/>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SPEAKER: IAN BARRIE</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NEXT STEPS / IMPROVISATION / IMPACT</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
        <p:nvSpPr>
          <p:cNvPr id="295" name="Google Shape;295;p29"/>
          <p:cNvSpPr txBox="1"/>
          <p:nvPr/>
        </p:nvSpPr>
        <p:spPr>
          <a:xfrm>
            <a:off x="824722" y="1363198"/>
            <a:ext cx="7526400" cy="1473600"/>
          </a:xfrm>
          <a:prstGeom prst="rect">
            <a:avLst/>
          </a:prstGeom>
          <a:noFill/>
          <a:ln>
            <a:noFill/>
          </a:ln>
        </p:spPr>
        <p:txBody>
          <a:bodyPr anchorCtr="0" anchor="ctr" bIns="91425" lIns="91425" spcFirstLastPara="1" rIns="91425" wrap="square" tIns="91425">
            <a:noAutofit/>
          </a:bodyPr>
          <a:lstStyle/>
          <a:p>
            <a:pPr indent="0" lvl="0" marL="457200" rtl="0" algn="ctr">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APPLY CDL CORN MASK DIRECTLY TO HLS PIXELS BEFORE COMPUTING NDVI/EVI</a:t>
            </a:r>
            <a:endParaRPr b="1" sz="1800">
              <a:solidFill>
                <a:srgbClr val="CC4125"/>
              </a:solidFill>
              <a:latin typeface="Helvetica Neue"/>
              <a:ea typeface="Helvetica Neue"/>
              <a:cs typeface="Helvetica Neue"/>
              <a:sym typeface="Helvetica Neue"/>
            </a:endParaRPr>
          </a:p>
          <a:p>
            <a:pPr indent="0" lvl="0" marL="457200" rtl="0" algn="ctr">
              <a:lnSpc>
                <a:spcPct val="100000"/>
              </a:lnSpc>
              <a:spcBef>
                <a:spcPts val="0"/>
              </a:spcBef>
              <a:spcAft>
                <a:spcPts val="0"/>
              </a:spcAft>
              <a:buNone/>
            </a:pPr>
            <a:r>
              <a:t/>
            </a:r>
            <a:endParaRPr b="1" sz="1800">
              <a:solidFill>
                <a:srgbClr val="CC4125"/>
              </a:solidFill>
              <a:latin typeface="Helvetica Neue"/>
              <a:ea typeface="Helvetica Neue"/>
              <a:cs typeface="Helvetica Neue"/>
              <a:sym typeface="Helvetica Neue"/>
            </a:endParaRPr>
          </a:p>
          <a:p>
            <a:pPr indent="0" lvl="0" marL="457200" rtl="0" algn="ctr">
              <a:lnSpc>
                <a:spcPct val="100000"/>
              </a:lnSpc>
              <a:spcBef>
                <a:spcPts val="0"/>
              </a:spcBef>
              <a:spcAft>
                <a:spcPts val="0"/>
              </a:spcAft>
              <a:buNone/>
            </a:pPr>
            <a:r>
              <a:rPr b="1" lang="en" sz="1800">
                <a:solidFill>
                  <a:srgbClr val="CC4125"/>
                </a:solidFill>
                <a:latin typeface="Helvetica Neue"/>
                <a:ea typeface="Helvetica Neue"/>
                <a:cs typeface="Helvetica Neue"/>
                <a:sym typeface="Helvetica Neue"/>
              </a:rPr>
              <a:t>INCREASING SCOPE: MORE EXTERNAL DATA SETS, INCLUSION OF OTHER STATES’ DATA.</a:t>
            </a:r>
            <a:endParaRPr b="1" sz="1800">
              <a:solidFill>
                <a:srgbClr val="CC4125"/>
              </a:solidFill>
              <a:latin typeface="Helvetica Neue"/>
              <a:ea typeface="Helvetica Neue"/>
              <a:cs typeface="Helvetica Neue"/>
              <a:sym typeface="Helvetica Neue"/>
            </a:endParaRPr>
          </a:p>
          <a:p>
            <a:pPr indent="0" lvl="0" marL="457200" rtl="0" algn="ctr">
              <a:lnSpc>
                <a:spcPct val="100000"/>
              </a:lnSpc>
              <a:spcBef>
                <a:spcPts val="0"/>
              </a:spcBef>
              <a:spcAft>
                <a:spcPts val="0"/>
              </a:spcAft>
              <a:buNone/>
            </a:pPr>
            <a:r>
              <a:t/>
            </a:r>
            <a:endParaRPr b="1" sz="1800">
              <a:solidFill>
                <a:srgbClr val="CC4125"/>
              </a:solidFill>
              <a:latin typeface="Helvetica Neue"/>
              <a:ea typeface="Helvetica Neue"/>
              <a:cs typeface="Helvetica Neue"/>
              <a:sym typeface="Helvetica Neue"/>
            </a:endParaRPr>
          </a:p>
        </p:txBody>
      </p:sp>
      <p:sp>
        <p:nvSpPr>
          <p:cNvPr id="296" name="Google Shape;296;p29"/>
          <p:cNvSpPr txBox="1"/>
          <p:nvPr/>
        </p:nvSpPr>
        <p:spPr>
          <a:xfrm>
            <a:off x="1813375" y="2904175"/>
            <a:ext cx="5549100" cy="65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Helvetica Neue Light"/>
                <a:ea typeface="Helvetica Neue Light"/>
                <a:cs typeface="Helvetica Neue Light"/>
                <a:sym typeface="Helvetica Neue Light"/>
              </a:rPr>
              <a:t>HOW AND WHY WILL THIS CREATE AN </a:t>
            </a:r>
            <a:r>
              <a:rPr b="1" lang="en">
                <a:solidFill>
                  <a:schemeClr val="dk1"/>
                </a:solidFill>
                <a:latin typeface="Helvetica Neue"/>
                <a:ea typeface="Helvetica Neue"/>
                <a:cs typeface="Helvetica Neue"/>
                <a:sym typeface="Helvetica Neue"/>
              </a:rPr>
              <a:t>IMPACT</a:t>
            </a:r>
            <a:r>
              <a:rPr lang="en">
                <a:solidFill>
                  <a:schemeClr val="dk1"/>
                </a:solidFill>
                <a:latin typeface="Helvetica Neue Light"/>
                <a:ea typeface="Helvetica Neue Light"/>
                <a:cs typeface="Helvetica Neue Light"/>
                <a:sym typeface="Helvetica Neue Light"/>
              </a:rPr>
              <a:t>? WHAT DO THESE MODELS MEAN FOR THE FUTURE?</a:t>
            </a:r>
            <a:endParaRPr>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0" name="Shape 300"/>
        <p:cNvGrpSpPr/>
        <p:nvPr/>
      </p:nvGrpSpPr>
      <p:grpSpPr>
        <a:xfrm>
          <a:off x="0" y="0"/>
          <a:ext cx="0" cy="0"/>
          <a:chOff x="0" y="0"/>
          <a:chExt cx="0" cy="0"/>
        </a:xfrm>
      </p:grpSpPr>
      <p:sp>
        <p:nvSpPr>
          <p:cNvPr id="301" name="Google Shape;301;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02" name="Google Shape;302;p3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White recycle paper cardboard surface texture background (Provided by Getty Images)" id="303" name="Google Shape;303;p30"/>
          <p:cNvPicPr preferRelativeResize="0"/>
          <p:nvPr/>
        </p:nvPicPr>
        <p:blipFill rotWithShape="1">
          <a:blip r:embed="rId3">
            <a:alphaModFix/>
          </a:blip>
          <a:srcRect b="1874" l="1244" r="2333" t="10560"/>
          <a:stretch/>
        </p:blipFill>
        <p:spPr>
          <a:xfrm>
            <a:off x="174625" y="170550"/>
            <a:ext cx="8826600" cy="4798200"/>
          </a:xfrm>
          <a:prstGeom prst="rect">
            <a:avLst/>
          </a:prstGeom>
          <a:noFill/>
          <a:ln>
            <a:noFill/>
          </a:ln>
        </p:spPr>
      </p:pic>
      <p:sp>
        <p:nvSpPr>
          <p:cNvPr id="304" name="Google Shape;304;p30"/>
          <p:cNvSpPr txBox="1"/>
          <p:nvPr/>
        </p:nvSpPr>
        <p:spPr>
          <a:xfrm>
            <a:off x="630625" y="1311375"/>
            <a:ext cx="7914600" cy="20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600">
                <a:solidFill>
                  <a:srgbClr val="CC4125"/>
                </a:solidFill>
              </a:rPr>
              <a:t>FRONTEND DEMO</a:t>
            </a:r>
            <a:endParaRPr b="1" sz="6600">
              <a:solidFill>
                <a:srgbClr val="CC4125"/>
              </a:solidFill>
            </a:endParaRPr>
          </a:p>
        </p:txBody>
      </p:sp>
      <p:cxnSp>
        <p:nvCxnSpPr>
          <p:cNvPr id="305" name="Google Shape;305;p30"/>
          <p:cNvCxnSpPr/>
          <p:nvPr/>
        </p:nvCxnSpPr>
        <p:spPr>
          <a:xfrm rot="10800000">
            <a:off x="-151350" y="4018775"/>
            <a:ext cx="9446700" cy="0"/>
          </a:xfrm>
          <a:prstGeom prst="straightConnector1">
            <a:avLst/>
          </a:prstGeom>
          <a:noFill/>
          <a:ln cap="flat" cmpd="sng" w="19050">
            <a:solidFill>
              <a:srgbClr val="CC4125"/>
            </a:solidFill>
            <a:prstDash val="solid"/>
            <a:round/>
            <a:headEnd len="med" w="med" type="none"/>
            <a:tailEnd len="med" w="med" type="none"/>
          </a:ln>
        </p:spPr>
      </p:cxnSp>
      <p:sp>
        <p:nvSpPr>
          <p:cNvPr id="306" name="Google Shape;306;p30"/>
          <p:cNvSpPr txBox="1"/>
          <p:nvPr/>
        </p:nvSpPr>
        <p:spPr>
          <a:xfrm>
            <a:off x="1721250" y="2360730"/>
            <a:ext cx="5701500" cy="792600"/>
          </a:xfrm>
          <a:prstGeom prst="rect">
            <a:avLst/>
          </a:prstGeom>
          <a:noFill/>
          <a:ln>
            <a:noFill/>
          </a:ln>
          <a:effectLst>
            <a:outerShdw blurRad="28575" rotWithShape="0" algn="bl" dir="5400000" dist="152400">
              <a:srgbClr val="000000">
                <a:alpha val="27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Oswald"/>
                <a:ea typeface="Oswald"/>
                <a:cs typeface="Oswald"/>
                <a:sym typeface="Oswald"/>
              </a:rPr>
              <a:t>EXPLORING THE VISUALIZED MODELS</a:t>
            </a:r>
            <a:endParaRPr sz="3000">
              <a:solidFill>
                <a:srgbClr val="FFFFFF"/>
              </a:solidFill>
              <a:latin typeface="Oswald"/>
              <a:ea typeface="Oswald"/>
              <a:cs typeface="Oswald"/>
              <a:sym typeface="Oswald"/>
            </a:endParaRPr>
          </a:p>
        </p:txBody>
      </p:sp>
      <p:sp>
        <p:nvSpPr>
          <p:cNvPr id="307" name="Google Shape;307;p30"/>
          <p:cNvSpPr txBox="1"/>
          <p:nvPr/>
        </p:nvSpPr>
        <p:spPr>
          <a:xfrm>
            <a:off x="8553325" y="3653100"/>
            <a:ext cx="447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4125"/>
                </a:solidFill>
                <a:latin typeface="Helvetica Neue"/>
                <a:ea typeface="Helvetica Neue"/>
                <a:cs typeface="Helvetica Neue"/>
                <a:sym typeface="Helvetica Neue"/>
              </a:rPr>
              <a:t>04</a:t>
            </a:r>
            <a:endParaRPr b="1" sz="1800">
              <a:solidFill>
                <a:srgbClr val="CC4125"/>
              </a:solidFill>
              <a:latin typeface="Helvetica Neue"/>
              <a:ea typeface="Helvetica Neue"/>
              <a:cs typeface="Helvetica Neue"/>
              <a:sym typeface="Helvetica Neue"/>
            </a:endParaRPr>
          </a:p>
        </p:txBody>
      </p:sp>
      <p:sp>
        <p:nvSpPr>
          <p:cNvPr id="308" name="Google Shape;308;p30"/>
          <p:cNvSpPr txBox="1"/>
          <p:nvPr/>
        </p:nvSpPr>
        <p:spPr>
          <a:xfrm>
            <a:off x="239875" y="4136200"/>
            <a:ext cx="4866900" cy="652500"/>
          </a:xfrm>
          <a:prstGeom prst="rect">
            <a:avLst/>
          </a:prstGeom>
          <a:noFill/>
          <a:ln>
            <a:noFill/>
          </a:ln>
        </p:spPr>
        <p:txBody>
          <a:bodyPr anchorCtr="0" anchor="t" bIns="91425" lIns="91425" spcFirstLastPara="1" rIns="91425" wrap="square" tIns="91425">
            <a:noAutofit/>
          </a:bodyPr>
          <a:lstStyle/>
          <a:p>
            <a:pPr indent="0" lvl="0" marL="0" rtl="0" algn="l">
              <a:lnSpc>
                <a:spcPct val="25000"/>
              </a:lnSpc>
              <a:spcBef>
                <a:spcPts val="1200"/>
              </a:spcBef>
              <a:spcAft>
                <a:spcPts val="0"/>
              </a:spcAft>
              <a:buNone/>
            </a:pPr>
            <a:r>
              <a:rPr lang="en">
                <a:solidFill>
                  <a:srgbClr val="CC4125"/>
                </a:solidFill>
                <a:latin typeface="Helvetica Neue Light"/>
                <a:ea typeface="Helvetica Neue Light"/>
                <a:cs typeface="Helvetica Neue Light"/>
                <a:sym typeface="Helvetica Neue Light"/>
              </a:rPr>
              <a:t>FRONTEND DEMO</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0"/>
              </a:spcAft>
              <a:buNone/>
            </a:pPr>
            <a:r>
              <a:t/>
            </a:r>
            <a:endParaRPr>
              <a:solidFill>
                <a:srgbClr val="CC4125"/>
              </a:solidFill>
              <a:latin typeface="Helvetica Neue Light"/>
              <a:ea typeface="Helvetica Neue Light"/>
              <a:cs typeface="Helvetica Neue Light"/>
              <a:sym typeface="Helvetica Neue Light"/>
            </a:endParaRPr>
          </a:p>
          <a:p>
            <a:pPr indent="0" lvl="0" marL="0" rtl="0" algn="l">
              <a:lnSpc>
                <a:spcPct val="25000"/>
              </a:lnSpc>
              <a:spcBef>
                <a:spcPts val="1200"/>
              </a:spcBef>
              <a:spcAft>
                <a:spcPts val="1200"/>
              </a:spcAft>
              <a:buNone/>
            </a:pPr>
            <a:r>
              <a:t/>
            </a:r>
            <a:endParaRPr>
              <a:solidFill>
                <a:srgbClr val="CC4125"/>
              </a:solidFill>
              <a:latin typeface="Helvetica Neue Light"/>
              <a:ea typeface="Helvetica Neue Light"/>
              <a:cs typeface="Helvetica Neue Light"/>
              <a:sym typeface="Helvetica Neue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